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4" r:id="rId17"/>
    <p:sldId id="275" r:id="rId18"/>
  </p:sldIdLst>
  <p:sldSz cx="12192000" cy="6858000"/>
  <p:notesSz cx="6858000" cy="9144000"/>
  <p:embeddedFontLst>
    <p:embeddedFont>
      <p:font typeface="DM Sans" pitchFamily="2" charset="77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87F7EAD-A329-4BCF-9AF6-26A41C33BBF3}">
  <a:tblStyle styleId="{387F7EAD-A329-4BCF-9AF6-26A41C33BBF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05"/>
    <p:restoredTop sz="94530"/>
  </p:normalViewPr>
  <p:slideViewPr>
    <p:cSldViewPr snapToGrid="0">
      <p:cViewPr varScale="1">
        <p:scale>
          <a:sx n="112" d="100"/>
          <a:sy n="112" d="100"/>
        </p:scale>
        <p:origin x="544" y="20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95;p14" descr="image.png">
            <a:extLst>
              <a:ext uri="{FF2B5EF4-FFF2-40B4-BE49-F238E27FC236}">
                <a16:creationId xmlns:a16="http://schemas.microsoft.com/office/drawing/2014/main" id="{AB52C3AF-AEC3-F586-9ECE-2C450CF346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7143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237903" y="964365"/>
            <a:ext cx="7716193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Merriweather"/>
                <a:cs typeface="Arial" panose="020B0604020202020204" pitchFamily="34" charset="0"/>
                <a:sym typeface="Merriweather"/>
              </a:rPr>
              <a:t>Cancer Surveillance:</a:t>
            </a:r>
            <a:b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Merriweather"/>
                <a:cs typeface="Arial" panose="020B0604020202020204" pitchFamily="34" charset="0"/>
                <a:sym typeface="Merriweather"/>
              </a:rPr>
            </a:br>
            <a:r>
              <a:rPr lang="en-US" sz="3600" b="1" dirty="0">
                <a:solidFill>
                  <a:schemeClr val="bg2">
                    <a:lumMod val="60000"/>
                    <a:lumOff val="40000"/>
                  </a:schemeClr>
                </a:solidFill>
                <a:ea typeface="DM Sans"/>
                <a:cs typeface="DM Sans"/>
                <a:sym typeface="DM Sans"/>
              </a:rPr>
              <a:t>From Data to Public Health Action</a:t>
            </a:r>
            <a:endParaRPr lang="en-US" sz="36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2497695" y="2072361"/>
            <a:ext cx="71966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DM Sans"/>
                <a:cs typeface="DM Sans"/>
                <a:sym typeface="DM Sans"/>
              </a:rPr>
              <a:t>Asynchronous Session: Concepts, Practice &amp; Application</a:t>
            </a:r>
            <a:endParaRPr sz="200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8EE79818-8646-D9FE-400B-2F3A6968C63B}"/>
              </a:ext>
            </a:extLst>
          </p:cNvPr>
          <p:cNvSpPr txBox="1"/>
          <p:nvPr/>
        </p:nvSpPr>
        <p:spPr>
          <a:xfrm>
            <a:off x="3389884" y="3457257"/>
            <a:ext cx="4972050" cy="1130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715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Rauf</a:t>
            </a:r>
            <a:r>
              <a:rPr sz="1800" spc="5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 </a:t>
            </a:r>
            <a:r>
              <a:rPr sz="180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Shah,</a:t>
            </a:r>
            <a:r>
              <a:rPr sz="1800" spc="15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 </a:t>
            </a:r>
            <a:r>
              <a:rPr sz="1800" spc="-2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MPH-</a:t>
            </a:r>
            <a:r>
              <a:rPr sz="180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EPI</a:t>
            </a:r>
            <a:r>
              <a:rPr sz="1800" spc="2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 </a:t>
            </a:r>
            <a:r>
              <a:rPr sz="180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(Fall</a:t>
            </a:r>
            <a:r>
              <a:rPr sz="1800" spc="-35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 </a:t>
            </a:r>
            <a:r>
              <a:rPr sz="1800" spc="-1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2025)</a:t>
            </a:r>
            <a:endParaRPr sz="180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0"/>
              </a:spcBef>
            </a:pPr>
            <a:endParaRPr sz="180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Course:</a:t>
            </a:r>
            <a:endParaRPr sz="180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8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PUBLIC</a:t>
            </a:r>
            <a:r>
              <a:rPr sz="1800" b="1" spc="5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 </a:t>
            </a:r>
            <a:r>
              <a:rPr sz="1800" b="1" spc="-25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HEALTH</a:t>
            </a:r>
            <a:r>
              <a:rPr sz="18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 </a:t>
            </a:r>
            <a:r>
              <a:rPr sz="1800" b="1" spc="-1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TEACHING</a:t>
            </a:r>
            <a:r>
              <a:rPr sz="1800" b="1" spc="-13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 </a:t>
            </a:r>
            <a:r>
              <a:rPr sz="18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AND</a:t>
            </a:r>
            <a:r>
              <a:rPr sz="1800" b="1" spc="-35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 </a:t>
            </a:r>
            <a:r>
              <a:rPr sz="1800" b="1" spc="-1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cs typeface="Times New Roman"/>
              </a:rPr>
              <a:t>TRAINING</a:t>
            </a:r>
            <a:endParaRPr sz="180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  <a:cs typeface="Times New Roman"/>
            </a:endParaRPr>
          </a:p>
        </p:txBody>
      </p:sp>
      <p:pic>
        <p:nvPicPr>
          <p:cNvPr id="4" name="object 5">
            <a:extLst>
              <a:ext uri="{FF2B5EF4-FFF2-40B4-BE49-F238E27FC236}">
                <a16:creationId xmlns:a16="http://schemas.microsoft.com/office/drawing/2014/main" id="{0C28D786-DA0F-7779-421D-42014400AC60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029075" y="4772025"/>
            <a:ext cx="38862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29;p16" descr="image.png">
            <a:extLst>
              <a:ext uri="{FF2B5EF4-FFF2-40B4-BE49-F238E27FC236}">
                <a16:creationId xmlns:a16="http://schemas.microsoft.com/office/drawing/2014/main" id="{A8787317-8D99-A141-1684-D734F6C46A9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3003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794228" y="3435004"/>
            <a:ext cx="304694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Define &amp; Compare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71500" y="3901729"/>
            <a:ext cx="3350505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Distinguish between passive, active, sentinel, and syndromic surveillance methods.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4572375" y="3435004"/>
            <a:ext cx="304709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Apply Rules</a:t>
            </a:r>
            <a:endParaRPr>
              <a:solidFill>
                <a:schemeClr val="tx1"/>
              </a:solidFill>
              <a:latin typeface="+mn-lt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4835426" y="3901729"/>
            <a:ext cx="290185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Utilize ICD-O-3, staging systems, and reportability rules to classify cases accurately.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8350679" y="3435004"/>
            <a:ext cx="304694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Identify Workflow</a:t>
            </a:r>
            <a:endParaRPr>
              <a:solidFill>
                <a:schemeClr val="tx1"/>
              </a:solidFill>
              <a:latin typeface="+mn-lt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8588345" y="3901729"/>
            <a:ext cx="2571609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Map the end-to-end data lifecycle from case finding to quality reporting.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03" name="Google Shape;10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3570" y="2400287"/>
            <a:ext cx="897099" cy="8219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24745" y="2400287"/>
            <a:ext cx="1053264" cy="8219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25662" y="2400287"/>
            <a:ext cx="1053264" cy="821928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485626" y="342126"/>
            <a:ext cx="11601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Learning Objectives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 descr="image.png"/>
          <p:cNvPicPr preferRelativeResize="0"/>
          <p:nvPr/>
        </p:nvPicPr>
        <p:blipFill rotWithShape="1">
          <a:blip r:embed="rId4">
            <a:alphaModFix/>
          </a:blip>
          <a:srcRect l="1423" b="20001"/>
          <a:stretch>
            <a:fillRect/>
          </a:stretch>
        </p:blipFill>
        <p:spPr>
          <a:xfrm>
            <a:off x="571500" y="1066087"/>
            <a:ext cx="11210925" cy="3688794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7"/>
          <p:cNvSpPr txBox="1"/>
          <p:nvPr/>
        </p:nvSpPr>
        <p:spPr>
          <a:xfrm>
            <a:off x="571500" y="5434012"/>
            <a:ext cx="110490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1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Breast and Lung cancer account for the highest volume of new cases globally.</a:t>
            </a:r>
            <a:endParaRPr sz="2000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445770" y="201095"/>
            <a:ext cx="1000789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Global Cancer Burden: Incidence (2022)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8" descr="image.png"/>
          <p:cNvPicPr preferRelativeResize="0"/>
          <p:nvPr/>
        </p:nvPicPr>
        <p:blipFill rotWithShape="1">
          <a:blip r:embed="rId4">
            <a:alphaModFix/>
          </a:blip>
          <a:srcRect l="8431" b="18381"/>
          <a:stretch>
            <a:fillRect/>
          </a:stretch>
        </p:blipFill>
        <p:spPr>
          <a:xfrm>
            <a:off x="728662" y="1143000"/>
            <a:ext cx="10506076" cy="391001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571500" y="5434012"/>
            <a:ext cx="110490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1" u="none" strike="noStrike" cap="none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Lung cancer dominates mortality, highlighting the need for early detection.</a:t>
            </a:r>
            <a:endParaRPr sz="2000" b="1" dirty="0">
              <a:latin typeface="+mn-lt"/>
            </a:endParaRPr>
          </a:p>
        </p:txBody>
      </p:sp>
      <p:sp>
        <p:nvSpPr>
          <p:cNvPr id="154" name="Google Shape;154;p18"/>
          <p:cNvSpPr txBox="1"/>
          <p:nvPr/>
        </p:nvSpPr>
        <p:spPr>
          <a:xfrm>
            <a:off x="411480" y="294501"/>
            <a:ext cx="889762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Global Cancer Burden: Mortality (2022)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8637" y="1903093"/>
            <a:ext cx="5286375" cy="3051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1262" y="1903093"/>
            <a:ext cx="5286375" cy="3051813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/>
        </p:nvSpPr>
        <p:spPr>
          <a:xfrm>
            <a:off x="1000442" y="2308543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Incidence Insights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64" name="Google Shape;164;p19"/>
          <p:cNvSpPr txBox="1"/>
          <p:nvPr/>
        </p:nvSpPr>
        <p:spPr>
          <a:xfrm>
            <a:off x="6805612" y="2346643"/>
            <a:ext cx="327564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81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Mortality Insights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65" name="Google Shape;16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9162" y="2346643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9"/>
          <p:cNvSpPr txBox="1"/>
          <p:nvPr/>
        </p:nvSpPr>
        <p:spPr>
          <a:xfrm>
            <a:off x="1109662" y="2661603"/>
            <a:ext cx="4610100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~20 million new cases annually.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600" b="1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Breast cancer is the most diagnosed.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600" b="1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High prevalence implies a growing need for survivorship care.</a:t>
            </a:r>
            <a:endParaRPr 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72" name="Google Shape;172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86549" y="2384743"/>
            <a:ext cx="23812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 txBox="1"/>
          <p:nvPr/>
        </p:nvSpPr>
        <p:spPr>
          <a:xfrm>
            <a:off x="6782434" y="2661603"/>
            <a:ext cx="4661854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~9.7 million deaths annually.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600" b="1" dirty="0">
                <a:solidFill>
                  <a:schemeClr val="tx1"/>
                </a:solidFill>
                <a:ea typeface="DM Sans"/>
                <a:cs typeface="DM Sans"/>
                <a:sym typeface="DM Sans"/>
              </a:rPr>
              <a:t>Lung cancer is the leading cause of death.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600" b="1" dirty="0">
                <a:solidFill>
                  <a:schemeClr val="tx1"/>
                </a:solidFill>
                <a:ea typeface="DM Sans"/>
                <a:cs typeface="DM Sans"/>
                <a:sym typeface="DM Sans"/>
              </a:rPr>
              <a:t>Disparities in outcomes persist globally.</a:t>
            </a: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179" name="Google Shape;179;p19"/>
          <p:cNvSpPr txBox="1"/>
          <p:nvPr/>
        </p:nvSpPr>
        <p:spPr>
          <a:xfrm>
            <a:off x="333375" y="226374"/>
            <a:ext cx="55245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The Burden Summary</a:t>
            </a:r>
            <a:endParaRPr lang="en-US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185;p20" descr="image.png">
            <a:extLst>
              <a:ext uri="{FF2B5EF4-FFF2-40B4-BE49-F238E27FC236}">
                <a16:creationId xmlns:a16="http://schemas.microsoft.com/office/drawing/2014/main" id="{D03C7901-BE73-7B5E-8BB5-C46547F178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295275" y="167222"/>
            <a:ext cx="11601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Surveillance Approaches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pic>
        <p:nvPicPr>
          <p:cNvPr id="6" name="Picture 5" descr="A screenshot of a cancer surveillance approaches&#10;&#10;AI-generated content may be incorrect.">
            <a:extLst>
              <a:ext uri="{FF2B5EF4-FFF2-40B4-BE49-F238E27FC236}">
                <a16:creationId xmlns:a16="http://schemas.microsoft.com/office/drawing/2014/main" id="{07058250-17D2-D347-1FAE-454A95B704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24" t="17210" r="3902" b="5475"/>
          <a:stretch>
            <a:fillRect/>
          </a:stretch>
        </p:blipFill>
        <p:spPr>
          <a:xfrm>
            <a:off x="2019186" y="783115"/>
            <a:ext cx="6981940" cy="59076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1"/>
          <p:cNvSpPr txBox="1"/>
          <p:nvPr/>
        </p:nvSpPr>
        <p:spPr>
          <a:xfrm>
            <a:off x="1609725" y="4870307"/>
            <a:ext cx="992028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Effective surveillance identifies at-risk populations to target these interventions.</a:t>
            </a:r>
            <a:endParaRPr sz="2000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21" name="Google Shape;221;p21"/>
          <p:cNvSpPr txBox="1"/>
          <p:nvPr/>
        </p:nvSpPr>
        <p:spPr>
          <a:xfrm>
            <a:off x="432847" y="257696"/>
            <a:ext cx="11601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From Data to Screening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1E70736-D547-10D5-AE8A-0F37A9C3F041}"/>
              </a:ext>
            </a:extLst>
          </p:cNvPr>
          <p:cNvGrpSpPr/>
          <p:nvPr/>
        </p:nvGrpSpPr>
        <p:grpSpPr>
          <a:xfrm>
            <a:off x="656173" y="1495250"/>
            <a:ext cx="4955914" cy="2462213"/>
            <a:chOff x="6756935" y="2029945"/>
            <a:chExt cx="4955914" cy="2462213"/>
          </a:xfrm>
        </p:grpSpPr>
        <p:sp>
          <p:nvSpPr>
            <p:cNvPr id="7" name="Google Shape;212;p21">
              <a:extLst>
                <a:ext uri="{FF2B5EF4-FFF2-40B4-BE49-F238E27FC236}">
                  <a16:creationId xmlns:a16="http://schemas.microsoft.com/office/drawing/2014/main" id="{4CFC0A47-FE08-6BA1-493D-F2E5C6A359DA}"/>
                </a:ext>
              </a:extLst>
            </p:cNvPr>
            <p:cNvSpPr txBox="1"/>
            <p:nvPr/>
          </p:nvSpPr>
          <p:spPr>
            <a:xfrm>
              <a:off x="7188474" y="2029945"/>
              <a:ext cx="4524375" cy="24622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2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 dirty="0">
                  <a:solidFill>
                    <a:schemeClr val="tx1"/>
                  </a:solidFill>
                  <a:latin typeface="+mn-lt"/>
                  <a:ea typeface="DM Sans"/>
                  <a:cs typeface="DM Sans"/>
                  <a:sym typeface="DM Sans"/>
                </a:rPr>
                <a:t>Lung:</a:t>
              </a:r>
              <a:r>
                <a:rPr lang="en-US" sz="1600" b="0" i="0" u="none" strike="noStrike" cap="none" dirty="0">
                  <a:solidFill>
                    <a:schemeClr val="tx1"/>
                  </a:solidFill>
                  <a:latin typeface="+mn-lt"/>
                  <a:ea typeface="DM Sans"/>
                  <a:cs typeface="DM Sans"/>
                  <a:sym typeface="DM Sans"/>
                </a:rPr>
                <a:t> Low-dose CT for high-risk smokers.</a:t>
              </a:r>
            </a:p>
            <a:p>
              <a:pPr>
                <a:lnSpc>
                  <a:spcPct val="250000"/>
                </a:lnSpc>
              </a:pPr>
              <a:r>
                <a:rPr lang="en-US" sz="1600" b="1" dirty="0">
                  <a:solidFill>
                    <a:schemeClr val="tx1"/>
                  </a:solidFill>
                  <a:latin typeface="+mn-lt"/>
                  <a:ea typeface="DM Sans"/>
                  <a:cs typeface="DM Sans"/>
                  <a:sym typeface="DM Sans"/>
                </a:rPr>
                <a:t>Breast:</a:t>
              </a:r>
              <a:r>
                <a:rPr lang="en-US" sz="1600" dirty="0">
                  <a:solidFill>
                    <a:schemeClr val="tx1"/>
                  </a:solidFill>
                  <a:latin typeface="+mn-lt"/>
                  <a:ea typeface="DM Sans"/>
                  <a:cs typeface="DM Sans"/>
                  <a:sym typeface="DM Sans"/>
                </a:rPr>
                <a:t> Mammograms for women 40+.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  <a:p>
              <a:pPr>
                <a:lnSpc>
                  <a:spcPct val="250000"/>
                </a:lnSpc>
              </a:pPr>
              <a:r>
                <a:rPr lang="en-US" sz="1600" b="1" dirty="0">
                  <a:solidFill>
                    <a:schemeClr val="tx1"/>
                  </a:solidFill>
                  <a:latin typeface="+mn-lt"/>
                  <a:ea typeface="DM Sans"/>
                  <a:cs typeface="DM Sans"/>
                  <a:sym typeface="DM Sans"/>
                </a:rPr>
                <a:t>Colorectal:</a:t>
              </a:r>
              <a:r>
                <a:rPr lang="en-US" sz="1600" dirty="0">
                  <a:solidFill>
                    <a:schemeClr val="tx1"/>
                  </a:solidFill>
                  <a:latin typeface="+mn-lt"/>
                  <a:ea typeface="DM Sans"/>
                  <a:cs typeface="DM Sans"/>
                  <a:sym typeface="DM Sans"/>
                </a:rPr>
                <a:t> Colonoscopy or Stool tests for 45+.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  <a:p>
              <a:pPr>
                <a:lnSpc>
                  <a:spcPct val="250000"/>
                </a:lnSpc>
              </a:pPr>
              <a:r>
                <a:rPr lang="en-US" sz="1600" b="1" dirty="0">
                  <a:solidFill>
                    <a:schemeClr val="tx1"/>
                  </a:solidFill>
                  <a:latin typeface="+mn-lt"/>
                  <a:ea typeface="DM Sans"/>
                  <a:cs typeface="DM Sans"/>
                  <a:sym typeface="DM Sans"/>
                </a:rPr>
                <a:t>Prostate:</a:t>
              </a:r>
              <a:r>
                <a:rPr lang="en-US" sz="1600" dirty="0">
                  <a:solidFill>
                    <a:schemeClr val="tx1"/>
                  </a:solidFill>
                  <a:latin typeface="+mn-lt"/>
                  <a:ea typeface="DM Sans"/>
                  <a:cs typeface="DM Sans"/>
                  <a:sym typeface="DM Sans"/>
                </a:rPr>
                <a:t> PSA testing for men 45+.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</p:txBody>
        </p:sp>
        <p:pic>
          <p:nvPicPr>
            <p:cNvPr id="8" name="Google Shape;217;p21" descr="image.png">
              <a:extLst>
                <a:ext uri="{FF2B5EF4-FFF2-40B4-BE49-F238E27FC236}">
                  <a16:creationId xmlns:a16="http://schemas.microsoft.com/office/drawing/2014/main" id="{47BAC05E-0999-0E6C-9F2E-7C9B4B87DFF3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756935" y="2248684"/>
              <a:ext cx="285750" cy="228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218;p21" descr="image.png">
              <a:extLst>
                <a:ext uri="{FF2B5EF4-FFF2-40B4-BE49-F238E27FC236}">
                  <a16:creationId xmlns:a16="http://schemas.microsoft.com/office/drawing/2014/main" id="{3C4D9CA3-1153-4E68-2543-6B686D2094EB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817895" y="2906455"/>
              <a:ext cx="200025" cy="228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oogle Shape;219;p21" descr="image.png">
              <a:extLst>
                <a:ext uri="{FF2B5EF4-FFF2-40B4-BE49-F238E27FC236}">
                  <a16:creationId xmlns:a16="http://schemas.microsoft.com/office/drawing/2014/main" id="{28D3F83A-4663-3A43-F111-2AD89E728D80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807735" y="3523585"/>
              <a:ext cx="228600" cy="228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220;p21" descr="image.png">
              <a:extLst>
                <a:ext uri="{FF2B5EF4-FFF2-40B4-BE49-F238E27FC236}">
                  <a16:creationId xmlns:a16="http://schemas.microsoft.com/office/drawing/2014/main" id="{2E379064-614C-D3A6-996A-981D074D40FE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6795670" y="4140715"/>
              <a:ext cx="200025" cy="2286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19BDBEBB-00E4-8D7D-24ED-2F0574C4499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866" t="6815" r="5465" b="18577"/>
          <a:stretch>
            <a:fillRect/>
          </a:stretch>
        </p:blipFill>
        <p:spPr>
          <a:xfrm>
            <a:off x="5428944" y="1512340"/>
            <a:ext cx="6605353" cy="24622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2"/>
          <p:cNvSpPr txBox="1"/>
          <p:nvPr/>
        </p:nvSpPr>
        <p:spPr>
          <a:xfrm>
            <a:off x="300037" y="352709"/>
            <a:ext cx="8215313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Merriweather"/>
                <a:cs typeface="Arial" panose="020B0604020202020204" pitchFamily="34" charset="0"/>
                <a:sym typeface="Merriweather"/>
              </a:rPr>
              <a:t>Right Data → Right Test → Right Time</a:t>
            </a:r>
            <a:endParaRPr sz="3200" b="1" dirty="0">
              <a:solidFill>
                <a:schemeClr val="bg2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9" name="Google Shape;229;p22"/>
          <p:cNvSpPr txBox="1"/>
          <p:nvPr/>
        </p:nvSpPr>
        <p:spPr>
          <a:xfrm>
            <a:off x="6096000" y="3230875"/>
            <a:ext cx="6609229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Surveillance turns signals into saved lives.</a:t>
            </a:r>
            <a:endParaRPr sz="20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Picture 2" descr="What kind of cancer screening test do we need to undergo?">
            <a:extLst>
              <a:ext uri="{FF2B5EF4-FFF2-40B4-BE49-F238E27FC236}">
                <a16:creationId xmlns:a16="http://schemas.microsoft.com/office/drawing/2014/main" id="{E0D88268-8C60-7367-A946-CB334BC474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25" t="8036" r="6691" b="7032"/>
          <a:stretch>
            <a:fillRect/>
          </a:stretch>
        </p:blipFill>
        <p:spPr bwMode="auto">
          <a:xfrm>
            <a:off x="621943" y="1394838"/>
            <a:ext cx="4960828" cy="4918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2925" y="1719261"/>
            <a:ext cx="5286375" cy="3762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05550" y="1719262"/>
            <a:ext cx="5286375" cy="37624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8183" y="2745954"/>
            <a:ext cx="4955857" cy="2396424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3"/>
          <p:cNvSpPr txBox="1"/>
          <p:nvPr/>
        </p:nvSpPr>
        <p:spPr>
          <a:xfrm>
            <a:off x="933450" y="1948204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ICD-O-3 Standards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40" name="Google Shape;240;p23"/>
          <p:cNvSpPr txBox="1"/>
          <p:nvPr/>
        </p:nvSpPr>
        <p:spPr>
          <a:xfrm>
            <a:off x="933450" y="2315646"/>
            <a:ext cx="450532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The global standard for coding cancer cases.</a:t>
            </a:r>
            <a:endParaRPr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41" name="Google Shape;241;p23"/>
          <p:cNvSpPr txBox="1"/>
          <p:nvPr/>
        </p:nvSpPr>
        <p:spPr>
          <a:xfrm>
            <a:off x="6696075" y="1914525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Reportability Rules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6696075" y="2237690"/>
            <a:ext cx="4730591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Determines which cases must be included in the registry.</a:t>
            </a:r>
            <a:endParaRPr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43" name="Google Shape;243;p23"/>
          <p:cNvSpPr txBox="1"/>
          <p:nvPr/>
        </p:nvSpPr>
        <p:spPr>
          <a:xfrm>
            <a:off x="1034680" y="2833211"/>
            <a:ext cx="4404094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Topography:</a:t>
            </a: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 Site of origin (e.g., C50.9 Breast)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600" b="1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Morphology:</a:t>
            </a:r>
            <a:r>
              <a:rPr lang="en-US" sz="1600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 Cell type (e.g., 8500/3 Infiltrating Duct)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51" name="Google Shape;251;p23"/>
          <p:cNvSpPr txBox="1"/>
          <p:nvPr/>
        </p:nvSpPr>
        <p:spPr>
          <a:xfrm>
            <a:off x="411347" y="222179"/>
            <a:ext cx="544652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Defining the Case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pic>
        <p:nvPicPr>
          <p:cNvPr id="4" name="Google Shape;238;p23" descr="image.png">
            <a:extLst>
              <a:ext uri="{FF2B5EF4-FFF2-40B4-BE49-F238E27FC236}">
                <a16:creationId xmlns:a16="http://schemas.microsoft.com/office/drawing/2014/main" id="{8A761442-F1D7-BD83-B3B4-98EA468514F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83441" y="3025598"/>
            <a:ext cx="4955857" cy="173839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46;p23">
            <a:extLst>
              <a:ext uri="{FF2B5EF4-FFF2-40B4-BE49-F238E27FC236}">
                <a16:creationId xmlns:a16="http://schemas.microsoft.com/office/drawing/2014/main" id="{C3811075-1377-2AF2-1002-C18CB51CFE3A}"/>
              </a:ext>
            </a:extLst>
          </p:cNvPr>
          <p:cNvSpPr txBox="1"/>
          <p:nvPr/>
        </p:nvSpPr>
        <p:spPr>
          <a:xfrm>
            <a:off x="6816565" y="3066347"/>
            <a:ext cx="412432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Malignant (/3):</a:t>
            </a: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 Always reportable.</a:t>
            </a:r>
          </a:p>
          <a:p>
            <a:pPr marL="285750" lvl="0" indent="-28575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600" b="1" dirty="0">
                <a:solidFill>
                  <a:schemeClr val="tx1"/>
                </a:solidFill>
                <a:ea typeface="DM Sans"/>
                <a:cs typeface="DM Sans"/>
                <a:sym typeface="DM Sans"/>
              </a:rPr>
              <a:t>In Situ (/2):</a:t>
            </a:r>
            <a:r>
              <a:rPr lang="en-US" sz="1600" dirty="0">
                <a:solidFill>
                  <a:schemeClr val="tx1"/>
                </a:solidFill>
                <a:ea typeface="DM Sans"/>
                <a:cs typeface="DM Sans"/>
                <a:sym typeface="DM Sans"/>
              </a:rPr>
              <a:t> Most are reportable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600" b="1" dirty="0">
                <a:solidFill>
                  <a:schemeClr val="tx1"/>
                </a:solidFill>
                <a:ea typeface="DM Sans"/>
                <a:cs typeface="DM Sans"/>
                <a:sym typeface="DM Sans"/>
              </a:rPr>
              <a:t>Benign (/0):</a:t>
            </a:r>
            <a:r>
              <a:rPr lang="en-US" sz="1600" dirty="0">
                <a:solidFill>
                  <a:schemeClr val="tx1"/>
                </a:solidFill>
                <a:ea typeface="DM Sans"/>
                <a:cs typeface="DM Sans"/>
                <a:sym typeface="DM Sans"/>
              </a:rPr>
              <a:t> Generally not, except CNS.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61798" y="2182652"/>
            <a:ext cx="2682951" cy="2693877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4"/>
          <p:cNvSpPr txBox="1"/>
          <p:nvPr/>
        </p:nvSpPr>
        <p:spPr>
          <a:xfrm>
            <a:off x="4444441" y="2939509"/>
            <a:ext cx="211765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SEER Summary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68" name="Google Shape;268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869116" y="2274374"/>
            <a:ext cx="785888" cy="6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4"/>
          <p:cNvSpPr txBox="1"/>
          <p:nvPr/>
        </p:nvSpPr>
        <p:spPr>
          <a:xfrm>
            <a:off x="442913" y="376875"/>
            <a:ext cx="797573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Staging &amp; Rules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pic>
        <p:nvPicPr>
          <p:cNvPr id="3" name="Google Shape;259;p24" descr="image.png">
            <a:extLst>
              <a:ext uri="{FF2B5EF4-FFF2-40B4-BE49-F238E27FC236}">
                <a16:creationId xmlns:a16="http://schemas.microsoft.com/office/drawing/2014/main" id="{D6CB14F1-A39B-FC91-3783-82852922B4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4970" y="2182652"/>
            <a:ext cx="2682951" cy="269387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61;p24">
            <a:extLst>
              <a:ext uri="{FF2B5EF4-FFF2-40B4-BE49-F238E27FC236}">
                <a16:creationId xmlns:a16="http://schemas.microsoft.com/office/drawing/2014/main" id="{377CC6BF-3336-6AA5-8816-1E4488CAAB50}"/>
              </a:ext>
            </a:extLst>
          </p:cNvPr>
          <p:cNvSpPr txBox="1"/>
          <p:nvPr/>
        </p:nvSpPr>
        <p:spPr>
          <a:xfrm>
            <a:off x="804971" y="3070752"/>
            <a:ext cx="181720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TNM Staging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Google Shape;262;p24">
            <a:extLst>
              <a:ext uri="{FF2B5EF4-FFF2-40B4-BE49-F238E27FC236}">
                <a16:creationId xmlns:a16="http://schemas.microsoft.com/office/drawing/2014/main" id="{A35AE16C-F967-78F4-7A32-F5B5918A43C1}"/>
              </a:ext>
            </a:extLst>
          </p:cNvPr>
          <p:cNvSpPr txBox="1"/>
          <p:nvPr/>
        </p:nvSpPr>
        <p:spPr>
          <a:xfrm>
            <a:off x="1395864" y="3314839"/>
            <a:ext cx="2092057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T</a:t>
            </a: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umor size</a:t>
            </a:r>
            <a:endParaRPr lang="en-US" sz="1600" dirty="0">
              <a:solidFill>
                <a:schemeClr val="tx1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N</a:t>
            </a: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odes involved</a:t>
            </a:r>
            <a:endParaRPr lang="en-US" sz="1600" dirty="0">
              <a:solidFill>
                <a:schemeClr val="tx1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M</a:t>
            </a: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etastasis. </a:t>
            </a:r>
            <a:endParaRPr sz="16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6" name="Google Shape;267;p24" descr="image.png">
            <a:extLst>
              <a:ext uri="{FF2B5EF4-FFF2-40B4-BE49-F238E27FC236}">
                <a16:creationId xmlns:a16="http://schemas.microsoft.com/office/drawing/2014/main" id="{5D504EDC-4AB8-A800-1228-77F0BB879FC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95864" y="2290568"/>
            <a:ext cx="804303" cy="578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59;p24" descr="image.png">
            <a:extLst>
              <a:ext uri="{FF2B5EF4-FFF2-40B4-BE49-F238E27FC236}">
                <a16:creationId xmlns:a16="http://schemas.microsoft.com/office/drawing/2014/main" id="{DB3B5506-6BF2-3D32-9269-26B14EE35C6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16635" y="2182652"/>
            <a:ext cx="2679192" cy="26974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65;p24">
            <a:extLst>
              <a:ext uri="{FF2B5EF4-FFF2-40B4-BE49-F238E27FC236}">
                <a16:creationId xmlns:a16="http://schemas.microsoft.com/office/drawing/2014/main" id="{48AE9CE9-016B-DEFF-1E56-5C9EAD8B36E7}"/>
              </a:ext>
            </a:extLst>
          </p:cNvPr>
          <p:cNvSpPr txBox="1"/>
          <p:nvPr/>
        </p:nvSpPr>
        <p:spPr>
          <a:xfrm>
            <a:off x="7827894" y="2939509"/>
            <a:ext cx="162180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Date Rules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2" name="Google Shape;266;p24">
            <a:extLst>
              <a:ext uri="{FF2B5EF4-FFF2-40B4-BE49-F238E27FC236}">
                <a16:creationId xmlns:a16="http://schemas.microsoft.com/office/drawing/2014/main" id="{7BCA4B48-CF83-31BF-4B30-C4E2D5DA6013}"/>
              </a:ext>
            </a:extLst>
          </p:cNvPr>
          <p:cNvSpPr txBox="1"/>
          <p:nvPr/>
        </p:nvSpPr>
        <p:spPr>
          <a:xfrm>
            <a:off x="8090239" y="3234701"/>
            <a:ext cx="2405588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Anchor to the first definitive diagnosis (usually the pathology report date).</a:t>
            </a:r>
            <a:endParaRPr sz="16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3" name="Google Shape;269;p24" descr="image.png">
            <a:extLst>
              <a:ext uri="{FF2B5EF4-FFF2-40B4-BE49-F238E27FC236}">
                <a16:creationId xmlns:a16="http://schemas.microsoft.com/office/drawing/2014/main" id="{8DA19663-403A-3594-9F79-B86BE2E1615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418650" y="2207139"/>
            <a:ext cx="888819" cy="68773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5736EE3-4A7A-2CE2-E9BA-CA4B424CCFF3}"/>
              </a:ext>
            </a:extLst>
          </p:cNvPr>
          <p:cNvSpPr txBox="1"/>
          <p:nvPr/>
        </p:nvSpPr>
        <p:spPr>
          <a:xfrm>
            <a:off x="1087666" y="5336820"/>
            <a:ext cx="2182470" cy="785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Used for clinical treatment planning</a:t>
            </a:r>
            <a:endParaRPr lang="en-US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4D03D3-290D-0047-5E2E-C0FF1F23EA77}"/>
              </a:ext>
            </a:extLst>
          </p:cNvPr>
          <p:cNvSpPr txBox="1"/>
          <p:nvPr/>
        </p:nvSpPr>
        <p:spPr>
          <a:xfrm>
            <a:off x="4444442" y="5423446"/>
            <a:ext cx="2849494" cy="698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Used for population-level comparison and Epidemiology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8" name="Google Shape;264;p24">
            <a:extLst>
              <a:ext uri="{FF2B5EF4-FFF2-40B4-BE49-F238E27FC236}">
                <a16:creationId xmlns:a16="http://schemas.microsoft.com/office/drawing/2014/main" id="{093057CE-1423-1B96-7879-5171B811FBB3}"/>
              </a:ext>
            </a:extLst>
          </p:cNvPr>
          <p:cNvSpPr txBox="1"/>
          <p:nvPr/>
        </p:nvSpPr>
        <p:spPr>
          <a:xfrm>
            <a:off x="4902095" y="3321355"/>
            <a:ext cx="1691456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Localized</a:t>
            </a:r>
            <a:endParaRPr lang="en-US" sz="1600" dirty="0">
              <a:solidFill>
                <a:schemeClr val="tx1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Regional</a:t>
            </a:r>
          </a:p>
          <a:p>
            <a:pPr marL="285750" marR="0" lvl="0" indent="-28575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Distant. </a:t>
            </a:r>
            <a:endParaRPr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5204407D-524F-9EB4-40D9-12E92B1E8BCA}"/>
              </a:ext>
            </a:extLst>
          </p:cNvPr>
          <p:cNvSpPr/>
          <p:nvPr/>
        </p:nvSpPr>
        <p:spPr>
          <a:xfrm rot="5400000">
            <a:off x="1869364" y="4961194"/>
            <a:ext cx="529705" cy="36037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57575"/>
              </a:solidFill>
            </a:endParaRP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A5B51BA6-D0A2-5E77-84CA-297B5E6A587F}"/>
              </a:ext>
            </a:extLst>
          </p:cNvPr>
          <p:cNvSpPr/>
          <p:nvPr/>
        </p:nvSpPr>
        <p:spPr>
          <a:xfrm rot="5400000">
            <a:off x="5341820" y="4961193"/>
            <a:ext cx="529705" cy="36037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57575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5"/>
          <p:cNvSpPr txBox="1"/>
          <p:nvPr/>
        </p:nvSpPr>
        <p:spPr>
          <a:xfrm>
            <a:off x="342900" y="91585"/>
            <a:ext cx="48006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The Data Ecosystem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280" name="Google Shape;280;p25"/>
          <p:cNvSpPr txBox="1"/>
          <p:nvPr/>
        </p:nvSpPr>
        <p:spPr>
          <a:xfrm>
            <a:off x="2617470" y="1291165"/>
            <a:ext cx="737235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Cancer data is an aggregation of multiple streams:</a:t>
            </a:r>
            <a:endParaRPr sz="2000" b="1" dirty="0"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6DBA2C-84F2-762E-FE52-033123D39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731" y="1936748"/>
            <a:ext cx="9766537" cy="444396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Google Shape;293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6"/>
          <p:cNvSpPr txBox="1"/>
          <p:nvPr/>
        </p:nvSpPr>
        <p:spPr>
          <a:xfrm>
            <a:off x="410158" y="346433"/>
            <a:ext cx="73497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5 Dimensions of Data Quality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F36BBE-7B81-48EA-0B8B-333EB73A10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516" b="28084"/>
          <a:stretch>
            <a:fillRect/>
          </a:stretch>
        </p:blipFill>
        <p:spPr>
          <a:xfrm>
            <a:off x="1525103" y="1892624"/>
            <a:ext cx="2003648" cy="14548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2B2922-F548-D5CB-5DCD-F905A05D13B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681" r="8892" b="29460"/>
          <a:stretch>
            <a:fillRect/>
          </a:stretch>
        </p:blipFill>
        <p:spPr>
          <a:xfrm>
            <a:off x="5277353" y="2931248"/>
            <a:ext cx="1509824" cy="12989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DF0444-A8BA-85CB-0CE9-3F5E82351B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1985" y="1874874"/>
            <a:ext cx="1600200" cy="1206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6931A9-3B00-882F-A8B1-7A6FF485EE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39651" y="4295765"/>
            <a:ext cx="1689100" cy="125730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7493DDA8-47EF-67AD-5FD2-FA406E50A96C}"/>
              </a:ext>
            </a:extLst>
          </p:cNvPr>
          <p:cNvGrpSpPr/>
          <p:nvPr/>
        </p:nvGrpSpPr>
        <p:grpSpPr>
          <a:xfrm>
            <a:off x="8306758" y="4295765"/>
            <a:ext cx="1562100" cy="1256967"/>
            <a:chOff x="8132578" y="2757820"/>
            <a:chExt cx="1562100" cy="125696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A731F9B-77E9-00CF-B952-864F16B7D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132578" y="3621087"/>
              <a:ext cx="1562100" cy="393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EABF74B-AFBF-2AE0-E7CE-A28CDC7FF06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329428" y="2757820"/>
              <a:ext cx="1168400" cy="90170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80C38EB-6D57-3510-FAF3-12E48ADAF220}"/>
              </a:ext>
            </a:extLst>
          </p:cNvPr>
          <p:cNvSpPr txBox="1"/>
          <p:nvPr/>
        </p:nvSpPr>
        <p:spPr>
          <a:xfrm>
            <a:off x="1586724" y="3292546"/>
            <a:ext cx="219495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Are we capturing all eligible cases?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6683A1-750C-D32E-1B63-EFC79652AAA4}"/>
              </a:ext>
            </a:extLst>
          </p:cNvPr>
          <p:cNvSpPr txBox="1"/>
          <p:nvPr/>
        </p:nvSpPr>
        <p:spPr>
          <a:xfrm>
            <a:off x="5115475" y="4230233"/>
            <a:ext cx="200354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Is the data correct and valid?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A9351C-F5C3-A9D2-06C3-E8B1A2AD214A}"/>
              </a:ext>
            </a:extLst>
          </p:cNvPr>
          <p:cNvSpPr txBox="1"/>
          <p:nvPr/>
        </p:nvSpPr>
        <p:spPr>
          <a:xfrm>
            <a:off x="7968362" y="3198856"/>
            <a:ext cx="252597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Is data available rapidly enough for action?</a:t>
            </a:r>
            <a:endParaRPr lang="en-US" sz="1600" b="1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2DB8AD-7B7B-E30A-A659-686C74189450}"/>
              </a:ext>
            </a:extLst>
          </p:cNvPr>
          <p:cNvSpPr txBox="1"/>
          <p:nvPr/>
        </p:nvSpPr>
        <p:spPr>
          <a:xfrm>
            <a:off x="1689684" y="5586700"/>
            <a:ext cx="23953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Are standards applied uniformly over time?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4F2870-FFB5-E6E2-63D3-04F5A048F223}"/>
              </a:ext>
            </a:extLst>
          </p:cNvPr>
          <p:cNvSpPr txBox="1"/>
          <p:nvPr/>
        </p:nvSpPr>
        <p:spPr>
          <a:xfrm>
            <a:off x="7968362" y="5619747"/>
            <a:ext cx="222744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Are there duplicates in the System?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56856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27" descr="image.png"/>
          <p:cNvPicPr preferRelativeResize="0"/>
          <p:nvPr/>
        </p:nvPicPr>
        <p:blipFill rotWithShape="1">
          <a:blip r:embed="rId4">
            <a:alphaModFix/>
          </a:blip>
          <a:srcRect l="5955" t="12416" b="26423"/>
          <a:stretch>
            <a:fillRect/>
          </a:stretch>
        </p:blipFill>
        <p:spPr>
          <a:xfrm>
            <a:off x="312718" y="1426485"/>
            <a:ext cx="10937025" cy="3702727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7"/>
          <p:cNvSpPr txBox="1"/>
          <p:nvPr/>
        </p:nvSpPr>
        <p:spPr>
          <a:xfrm>
            <a:off x="3175591" y="5270531"/>
            <a:ext cx="675422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Meeting these standards ensures data is “Fit for Use</a:t>
            </a:r>
            <a:r>
              <a:rPr lang="en-US" sz="2000" b="1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”</a:t>
            </a:r>
            <a:endParaRPr sz="2000" b="1" dirty="0">
              <a:latin typeface="+mn-lt"/>
            </a:endParaRPr>
          </a:p>
        </p:txBody>
      </p:sp>
      <p:sp>
        <p:nvSpPr>
          <p:cNvPr id="313" name="Google Shape;313;p27"/>
          <p:cNvSpPr txBox="1"/>
          <p:nvPr/>
        </p:nvSpPr>
        <p:spPr>
          <a:xfrm>
            <a:off x="485775" y="256856"/>
            <a:ext cx="654168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NPCR Data Quality Targets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9"/>
          <p:cNvSpPr txBox="1"/>
          <p:nvPr/>
        </p:nvSpPr>
        <p:spPr>
          <a:xfrm>
            <a:off x="4029949" y="1716803"/>
            <a:ext cx="345602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Protecting Patient Trust</a:t>
            </a:r>
            <a:endParaRPr sz="24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41" name="Google Shape;341;p29"/>
          <p:cNvSpPr txBox="1"/>
          <p:nvPr/>
        </p:nvSpPr>
        <p:spPr>
          <a:xfrm>
            <a:off x="2547227" y="2531753"/>
            <a:ext cx="845746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RBAC:</a:t>
            </a:r>
            <a:r>
              <a:rPr lang="en-US" sz="2000" b="0" i="0" u="none" strike="noStrike" cap="none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 Role-Based Access Control ensures only authorized staff see data</a:t>
            </a:r>
            <a:endParaRPr lang="en-US" sz="2000" dirty="0">
              <a:latin typeface="+mn-lt"/>
            </a:endParaRPr>
          </a:p>
        </p:txBody>
      </p:sp>
      <p:pic>
        <p:nvPicPr>
          <p:cNvPr id="345" name="Google Shape;345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18410" y="2363747"/>
            <a:ext cx="1278851" cy="662282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18411" y="3640187"/>
            <a:ext cx="1023082" cy="662282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85123" y="4911414"/>
            <a:ext cx="767311" cy="662282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p29"/>
          <p:cNvSpPr txBox="1"/>
          <p:nvPr/>
        </p:nvSpPr>
        <p:spPr>
          <a:xfrm>
            <a:off x="400050" y="248026"/>
            <a:ext cx="608448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Privacy &amp; Security Cycle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4" name="Google Shape;341;p29">
            <a:extLst>
              <a:ext uri="{FF2B5EF4-FFF2-40B4-BE49-F238E27FC236}">
                <a16:creationId xmlns:a16="http://schemas.microsoft.com/office/drawing/2014/main" id="{D29859C1-C599-5C22-A956-4BCCD222598E}"/>
              </a:ext>
            </a:extLst>
          </p:cNvPr>
          <p:cNvSpPr txBox="1"/>
          <p:nvPr/>
        </p:nvSpPr>
        <p:spPr>
          <a:xfrm>
            <a:off x="2547227" y="3658821"/>
            <a:ext cx="728794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2000" b="1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Encryption:</a:t>
            </a:r>
            <a:r>
              <a:rPr lang="en-US" sz="2000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 Data is encrypted in transit (VPN) and at rest.</a:t>
            </a:r>
          </a:p>
        </p:txBody>
      </p:sp>
      <p:sp>
        <p:nvSpPr>
          <p:cNvPr id="5" name="Google Shape;341;p29">
            <a:extLst>
              <a:ext uri="{FF2B5EF4-FFF2-40B4-BE49-F238E27FC236}">
                <a16:creationId xmlns:a16="http://schemas.microsoft.com/office/drawing/2014/main" id="{FC2720FB-FD38-DA5D-2FA7-9ECCF3F17F7D}"/>
              </a:ext>
            </a:extLst>
          </p:cNvPr>
          <p:cNvSpPr txBox="1"/>
          <p:nvPr/>
        </p:nvSpPr>
        <p:spPr>
          <a:xfrm>
            <a:off x="2547227" y="5011722"/>
            <a:ext cx="642146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Audit Logs:</a:t>
            </a:r>
            <a:r>
              <a:rPr lang="en-US" sz="2000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 Every access is tracked and monitored.</a:t>
            </a:r>
            <a:endParaRPr lang="en-US" sz="2000" dirty="0">
              <a:latin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oogle Shape;354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0062"/>
            <a:ext cx="12192000" cy="7109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1" y="1871330"/>
            <a:ext cx="5031858" cy="36181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71331"/>
            <a:ext cx="5031859" cy="3600782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30"/>
          <p:cNvSpPr txBox="1"/>
          <p:nvPr/>
        </p:nvSpPr>
        <p:spPr>
          <a:xfrm>
            <a:off x="972658" y="3447470"/>
            <a:ext cx="319212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Small-Cell Suppression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58" name="Google Shape;358;p30"/>
          <p:cNvSpPr txBox="1"/>
          <p:nvPr/>
        </p:nvSpPr>
        <p:spPr>
          <a:xfrm>
            <a:off x="940760" y="3837287"/>
            <a:ext cx="450532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0" i="0" u="none" strike="noStrike" cap="none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Never publish counts fewer than &lt;5-10 cases (follow state laws and policy).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Combine or suppress cells to prevent re-identification in small populations</a:t>
            </a:r>
            <a:endParaRPr sz="1600" dirty="0">
              <a:latin typeface="+mn-lt"/>
            </a:endParaRPr>
          </a:p>
        </p:txBody>
      </p:sp>
      <p:sp>
        <p:nvSpPr>
          <p:cNvPr id="359" name="Google Shape;359;p30"/>
          <p:cNvSpPr txBox="1"/>
          <p:nvPr/>
        </p:nvSpPr>
        <p:spPr>
          <a:xfrm>
            <a:off x="6724651" y="3447469"/>
            <a:ext cx="245124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Aggregation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60" name="Google Shape;360;p30"/>
          <p:cNvSpPr txBox="1"/>
          <p:nvPr/>
        </p:nvSpPr>
        <p:spPr>
          <a:xfrm>
            <a:off x="6724651" y="3837287"/>
            <a:ext cx="450532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0" i="0" u="none" strike="noStrike" cap="none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Report data by larger geographic areas (e.g., region vs. zip code)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0" i="0" u="none" strike="noStrike" cap="none" dirty="0">
                <a:solidFill>
                  <a:srgbClr val="374151"/>
                </a:solidFill>
                <a:latin typeface="+mn-lt"/>
                <a:ea typeface="DM Sans"/>
                <a:cs typeface="DM Sans"/>
                <a:sym typeface="DM Sans"/>
              </a:rPr>
              <a:t>Use multi-year aggregates (e.g., 3-5-years) to ensure statistical stability and privacy.</a:t>
            </a:r>
            <a:endParaRPr sz="1600" dirty="0">
              <a:latin typeface="+mn-lt"/>
            </a:endParaRPr>
          </a:p>
        </p:txBody>
      </p:sp>
      <p:sp>
        <p:nvSpPr>
          <p:cNvPr id="361" name="Google Shape;361;p30"/>
          <p:cNvSpPr txBox="1"/>
          <p:nvPr/>
        </p:nvSpPr>
        <p:spPr>
          <a:xfrm>
            <a:off x="471316" y="230367"/>
            <a:ext cx="41948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Reporting Safely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586F6A-96FA-32D5-1651-55D19A9DD2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3987" y="1914413"/>
            <a:ext cx="1384300" cy="1371600"/>
          </a:xfrm>
          <a:prstGeom prst="rect">
            <a:avLst/>
          </a:prstGeom>
        </p:spPr>
      </p:pic>
      <p:sp>
        <p:nvSpPr>
          <p:cNvPr id="5" name="Google Shape;359;p30">
            <a:extLst>
              <a:ext uri="{FF2B5EF4-FFF2-40B4-BE49-F238E27FC236}">
                <a16:creationId xmlns:a16="http://schemas.microsoft.com/office/drawing/2014/main" id="{9BB8D4EF-AA7A-C4A4-5830-FA061E3EB8BE}"/>
              </a:ext>
            </a:extLst>
          </p:cNvPr>
          <p:cNvSpPr txBox="1"/>
          <p:nvPr/>
        </p:nvSpPr>
        <p:spPr>
          <a:xfrm>
            <a:off x="2646137" y="1430840"/>
            <a:ext cx="665631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Balancing usefulness and privacy in Cancer </a:t>
            </a:r>
            <a:r>
              <a:rPr lang="en-US" sz="2100" b="1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d</a:t>
            </a:r>
            <a:r>
              <a:rPr lang="en-US" sz="21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ata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494048-7984-16D5-D5B6-8FFF55FA0836}"/>
              </a:ext>
            </a:extLst>
          </p:cNvPr>
          <p:cNvSpPr txBox="1"/>
          <p:nvPr/>
        </p:nvSpPr>
        <p:spPr>
          <a:xfrm>
            <a:off x="2786571" y="5890645"/>
            <a:ext cx="50318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effectLst/>
                <a:latin typeface="+mn-lt"/>
              </a:rPr>
              <a:t>Goal: useful data, low disclosure risk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56319A-5C7F-3FAF-AED9-BFE115525B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2510" t="14363" r="17512" b="9808"/>
          <a:stretch>
            <a:fillRect/>
          </a:stretch>
        </p:blipFill>
        <p:spPr>
          <a:xfrm>
            <a:off x="7818430" y="5583305"/>
            <a:ext cx="788359" cy="9419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84798F-88FB-AD64-30C1-CC4BC2503F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6020" y="1982523"/>
            <a:ext cx="1401384" cy="115408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Google Shape;367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27775" y="1362221"/>
            <a:ext cx="4025110" cy="40378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90491" y="1457915"/>
            <a:ext cx="4025111" cy="394217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31"/>
          <p:cNvSpPr txBox="1"/>
          <p:nvPr/>
        </p:nvSpPr>
        <p:spPr>
          <a:xfrm>
            <a:off x="1327775" y="2888353"/>
            <a:ext cx="231926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Skeleton Notes</a:t>
            </a:r>
            <a:endParaRPr sz="20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71" name="Google Shape;371;p31"/>
          <p:cNvSpPr txBox="1"/>
          <p:nvPr/>
        </p:nvSpPr>
        <p:spPr>
          <a:xfrm>
            <a:off x="1623049" y="3404661"/>
            <a:ext cx="3487223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A fillable handout to help you follow along and capture key metrics during the session.</a:t>
            </a:r>
          </a:p>
          <a:p>
            <a:pPr marL="285750" marR="0" lvl="0" indent="-2857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Check the chat for the download link.</a:t>
            </a:r>
            <a:endParaRPr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72" name="Google Shape;372;p31"/>
          <p:cNvSpPr txBox="1"/>
          <p:nvPr/>
        </p:nvSpPr>
        <p:spPr>
          <a:xfrm>
            <a:off x="6462207" y="2928887"/>
            <a:ext cx="2411991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Case Study Guide</a:t>
            </a:r>
            <a:endParaRPr sz="20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73" name="Google Shape;373;p31"/>
          <p:cNvSpPr txBox="1"/>
          <p:nvPr/>
        </p:nvSpPr>
        <p:spPr>
          <a:xfrm>
            <a:off x="6556302" y="3404661"/>
            <a:ext cx="3357696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A reference sheet for the "</a:t>
            </a:r>
            <a:r>
              <a:rPr lang="en-US" sz="16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Rural Spike</a:t>
            </a:r>
            <a:r>
              <a:rPr lang="en-US" sz="16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" breakout activity, including the rubric for your group's diagnosis.</a:t>
            </a:r>
            <a:endParaRPr sz="16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374" name="Google Shape;374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789146" y="1615338"/>
            <a:ext cx="1153167" cy="1097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3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817916" y="1652789"/>
            <a:ext cx="1414944" cy="1019175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1"/>
          <p:cNvSpPr txBox="1"/>
          <p:nvPr/>
        </p:nvSpPr>
        <p:spPr>
          <a:xfrm>
            <a:off x="400050" y="164401"/>
            <a:ext cx="11601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Merriweather"/>
                <a:cs typeface="Merriweather"/>
                <a:sym typeface="Merriweather"/>
              </a:rPr>
              <a:t>Session Resources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Google Shape;382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32"/>
          <p:cNvSpPr txBox="1"/>
          <p:nvPr/>
        </p:nvSpPr>
        <p:spPr>
          <a:xfrm>
            <a:off x="962733" y="1608718"/>
            <a:ext cx="4002671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 dirty="0">
                <a:solidFill>
                  <a:schemeClr val="tx1"/>
                </a:solidFill>
                <a:latin typeface="+mn-lt"/>
                <a:ea typeface="Merriweather"/>
                <a:cs typeface="Merriweather"/>
                <a:sym typeface="Merriweather"/>
              </a:rPr>
              <a:t>Questions?</a:t>
            </a:r>
            <a:endParaRPr sz="44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84" name="Google Shape;384;p32"/>
          <p:cNvSpPr txBox="1"/>
          <p:nvPr/>
        </p:nvSpPr>
        <p:spPr>
          <a:xfrm>
            <a:off x="1896139" y="2441088"/>
            <a:ext cx="8066567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Thank you for your attention</a:t>
            </a:r>
            <a:endParaRPr sz="3200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85" name="Google Shape;385;p32"/>
          <p:cNvSpPr txBox="1"/>
          <p:nvPr/>
        </p:nvSpPr>
        <p:spPr>
          <a:xfrm>
            <a:off x="3172046" y="3519753"/>
            <a:ext cx="7492409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Next Steps:</a:t>
            </a:r>
            <a:r>
              <a:rPr lang="en-US" sz="2400" b="0" i="0" u="none" strike="noStrike" cap="none" dirty="0">
                <a:solidFill>
                  <a:schemeClr val="tx1"/>
                </a:solidFill>
                <a:latin typeface="+mn-lt"/>
                <a:ea typeface="DM Sans"/>
                <a:cs typeface="DM Sans"/>
                <a:sym typeface="DM Sans"/>
              </a:rPr>
              <a:t> Complete the post-session assessment.</a:t>
            </a:r>
            <a:endParaRPr sz="2400" dirty="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612</Words>
  <Application>Microsoft Macintosh PowerPoint</Application>
  <PresentationFormat>Widescreen</PresentationFormat>
  <Paragraphs>91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Wingdings</vt:lpstr>
      <vt:lpstr>Calibri</vt:lpstr>
      <vt:lpstr>Arial</vt:lpstr>
      <vt:lpstr>DM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Shah, Rauf</cp:lastModifiedBy>
  <cp:revision>20</cp:revision>
  <dcterms:modified xsi:type="dcterms:W3CDTF">2025-12-11T04:51:18Z</dcterms:modified>
  <cp:category/>
</cp:coreProperties>
</file>