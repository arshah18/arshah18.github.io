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76" r:id="rId11"/>
    <p:sldId id="269" r:id="rId12"/>
    <p:sldId id="272" r:id="rId13"/>
    <p:sldId id="273" r:id="rId14"/>
    <p:sldId id="275" r:id="rId15"/>
  </p:sldIdLst>
  <p:sldSz cx="12192000" cy="6858000"/>
  <p:notesSz cx="6858000" cy="9144000"/>
  <p:embeddedFontLst>
    <p:embeddedFont>
      <p:font typeface="DM Sans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F7EAD-A329-4BCF-9AF6-26A41C33BBF3}">
  <a:tblStyle styleId="{387F7EAD-A329-4BCF-9AF6-26A41C33BB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8"/>
    <p:restoredTop sz="94530"/>
  </p:normalViewPr>
  <p:slideViewPr>
    <p:cSldViewPr snapToGrid="0">
      <p:cViewPr varScale="1">
        <p:scale>
          <a:sx n="112" d="100"/>
          <a:sy n="112" d="100"/>
        </p:scale>
        <p:origin x="45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5;p14" descr="image.png">
            <a:extLst>
              <a:ext uri="{FF2B5EF4-FFF2-40B4-BE49-F238E27FC236}">
                <a16:creationId xmlns:a16="http://schemas.microsoft.com/office/drawing/2014/main" id="{AB52C3AF-AEC3-F586-9ECE-2C450CF346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37903" y="964365"/>
            <a:ext cx="77161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Cancer Surveillance:</a:t>
            </a:r>
            <a:b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</a:br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ea typeface="DM Sans"/>
                <a:cs typeface="DM Sans"/>
                <a:sym typeface="DM Sans"/>
              </a:rPr>
              <a:t>From Data to Public Health Action</a:t>
            </a:r>
            <a:endParaRPr lang="en-US" sz="36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97695" y="2072361"/>
            <a:ext cx="71966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DM Sans"/>
                <a:cs typeface="DM Sans"/>
                <a:sym typeface="DM Sans"/>
              </a:rPr>
              <a:t>Asynchronous Session: Concepts, Practice &amp; Application</a:t>
            </a:r>
            <a:endParaRPr sz="20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EE79818-8646-D9FE-400B-2F3A6968C63B}"/>
              </a:ext>
            </a:extLst>
          </p:cNvPr>
          <p:cNvSpPr txBox="1"/>
          <p:nvPr/>
        </p:nvSpPr>
        <p:spPr>
          <a:xfrm>
            <a:off x="3389884" y="3457257"/>
            <a:ext cx="497205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Rauf</a:t>
            </a:r>
            <a:r>
              <a:rPr sz="1800" spc="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Shah,</a:t>
            </a:r>
            <a:r>
              <a:rPr sz="1800" spc="1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spc="-2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MPH-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EPI</a:t>
            </a:r>
            <a:r>
              <a:rPr sz="1800" spc="2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(Fall</a:t>
            </a:r>
            <a:r>
              <a:rPr sz="1800" spc="-3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2025)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Course: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PUBLIC</a:t>
            </a:r>
            <a:r>
              <a:rPr sz="1800" b="1" spc="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2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HEALTH</a:t>
            </a: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TEACHING</a:t>
            </a:r>
            <a:r>
              <a:rPr sz="1800" b="1" spc="-13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AND</a:t>
            </a:r>
            <a:r>
              <a:rPr sz="1800" b="1" spc="-3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TRAINING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C28D786-DA0F-7779-421D-42014400AC6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9075" y="4772025"/>
            <a:ext cx="38862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9;p16" descr="image.png">
            <a:extLst>
              <a:ext uri="{FF2B5EF4-FFF2-40B4-BE49-F238E27FC236}">
                <a16:creationId xmlns:a16="http://schemas.microsoft.com/office/drawing/2014/main" id="{A8787317-8D99-A141-1684-D734F6C46A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300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4228" y="3435004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Define &amp; Compare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901729"/>
            <a:ext cx="335050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Distinguish between passive, active, sentinel, and syndromic surveillance methods.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572375" y="3435004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Apply Rules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835426" y="3901729"/>
            <a:ext cx="29018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Utilize ICD-O-3, staging systems, and reportability rules to classify cases accurately.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350679" y="3435004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Identify Workflow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88345" y="3901729"/>
            <a:ext cx="257160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Map the end-to-end data lifecycle from case finding to quality reporting.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3570" y="2400287"/>
            <a:ext cx="897099" cy="821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4745" y="2400287"/>
            <a:ext cx="1053264" cy="821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25662" y="2400287"/>
            <a:ext cx="1053264" cy="8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85626" y="342126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Learning Objectives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 l="1423" b="20001"/>
          <a:stretch>
            <a:fillRect/>
          </a:stretch>
        </p:blipFill>
        <p:spPr>
          <a:xfrm>
            <a:off x="571500" y="1066087"/>
            <a:ext cx="11210925" cy="368879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434012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Breast and Lung cancer account for the highest volume of new cases globally.</a:t>
            </a:r>
            <a:endParaRPr sz="2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45770" y="201095"/>
            <a:ext cx="1000789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Global Cancer Burden: Incidence (2022)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 l="8431" b="18381"/>
          <a:stretch>
            <a:fillRect/>
          </a:stretch>
        </p:blipFill>
        <p:spPr>
          <a:xfrm>
            <a:off x="728662" y="1143000"/>
            <a:ext cx="10506076" cy="391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5434012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Lung cancer dominates mortality, highlighting the need for early detection.</a:t>
            </a:r>
            <a:endParaRPr sz="2000" b="1" dirty="0">
              <a:latin typeface="+mn-l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411480" y="294501"/>
            <a:ext cx="88976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Global Cancer Burden: Mortality (2022)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637" y="1903093"/>
            <a:ext cx="5286375" cy="305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1262" y="1903093"/>
            <a:ext cx="5286375" cy="305181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000442" y="2308543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Incidence Insights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805612" y="2346643"/>
            <a:ext cx="3275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Mortality Insights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9162" y="234664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109662" y="2661603"/>
            <a:ext cx="46101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~20 million new cases annually.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Breast cancer is the most diagnosed.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High prevalence implies a growing need for survivorship care.</a:t>
            </a:r>
            <a:endParaRPr 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86549" y="2384743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782434" y="2661603"/>
            <a:ext cx="466185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~9.7 million deaths annually.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Lung cancer is the leading cause of death.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Disparities in outcomes persist globally.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333375" y="226374"/>
            <a:ext cx="5524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The Burden Summary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85;p20" descr="image.png">
            <a:extLst>
              <a:ext uri="{FF2B5EF4-FFF2-40B4-BE49-F238E27FC236}">
                <a16:creationId xmlns:a16="http://schemas.microsoft.com/office/drawing/2014/main" id="{D03C7901-BE73-7B5E-8BB5-C46547F17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295275" y="167222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Surveillance Approaches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6" name="Picture 5" descr="A screenshot of a cancer surveillance approaches&#10;&#10;AI-generated content may be incorrect.">
            <a:extLst>
              <a:ext uri="{FF2B5EF4-FFF2-40B4-BE49-F238E27FC236}">
                <a16:creationId xmlns:a16="http://schemas.microsoft.com/office/drawing/2014/main" id="{07058250-17D2-D347-1FAE-454A95B7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24" t="17210" r="3902" b="5475"/>
          <a:stretch>
            <a:fillRect/>
          </a:stretch>
        </p:blipFill>
        <p:spPr>
          <a:xfrm>
            <a:off x="2019186" y="783115"/>
            <a:ext cx="6981940" cy="5907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1719261"/>
            <a:ext cx="5286375" cy="376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1719262"/>
            <a:ext cx="5286375" cy="376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183" y="2745954"/>
            <a:ext cx="4955857" cy="2396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33450" y="1948204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ICD-O-3 Standards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33450" y="2315646"/>
            <a:ext cx="45053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The global standard for coding cancer cases.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696075" y="1914525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Reportability Rules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696075" y="2237690"/>
            <a:ext cx="4730591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Determines which cases must be included in the registry.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34680" y="2833211"/>
            <a:ext cx="440409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Topography: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Site of origin (e.g., C50.9 Breast)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Morphology: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Cell type (e.g., 8500/3 Infiltrating Duct)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411347" y="222179"/>
            <a:ext cx="54465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Defining the Case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4" name="Google Shape;238;p23" descr="image.png">
            <a:extLst>
              <a:ext uri="{FF2B5EF4-FFF2-40B4-BE49-F238E27FC236}">
                <a16:creationId xmlns:a16="http://schemas.microsoft.com/office/drawing/2014/main" id="{8A761442-F1D7-BD83-B3B4-98EA468514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3441" y="3025598"/>
            <a:ext cx="4955857" cy="17383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6;p23">
            <a:extLst>
              <a:ext uri="{FF2B5EF4-FFF2-40B4-BE49-F238E27FC236}">
                <a16:creationId xmlns:a16="http://schemas.microsoft.com/office/drawing/2014/main" id="{C3811075-1377-2AF2-1002-C18CB51CFE3A}"/>
              </a:ext>
            </a:extLst>
          </p:cNvPr>
          <p:cNvSpPr txBox="1"/>
          <p:nvPr/>
        </p:nvSpPr>
        <p:spPr>
          <a:xfrm>
            <a:off x="6816565" y="3066347"/>
            <a:ext cx="4124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Malignant (/3):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Always reportable.</a:t>
            </a:r>
          </a:p>
          <a:p>
            <a:pPr marL="285750" lvl="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In Situ (/2):</a:t>
            </a: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 Most are reportable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Benign (/0):</a:t>
            </a: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 Generally not, except CNS.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1798" y="2182652"/>
            <a:ext cx="2682951" cy="26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4444441" y="2939509"/>
            <a:ext cx="21176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SEER Summary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9116" y="2274374"/>
            <a:ext cx="785888" cy="6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442913" y="376875"/>
            <a:ext cx="7975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Staging &amp; Rules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3" name="Google Shape;259;p24" descr="image.png">
            <a:extLst>
              <a:ext uri="{FF2B5EF4-FFF2-40B4-BE49-F238E27FC236}">
                <a16:creationId xmlns:a16="http://schemas.microsoft.com/office/drawing/2014/main" id="{D6CB14F1-A39B-FC91-3783-82852922B4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970" y="2182652"/>
            <a:ext cx="2682951" cy="26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61;p24">
            <a:extLst>
              <a:ext uri="{FF2B5EF4-FFF2-40B4-BE49-F238E27FC236}">
                <a16:creationId xmlns:a16="http://schemas.microsoft.com/office/drawing/2014/main" id="{377CC6BF-3336-6AA5-8816-1E4488CAAB50}"/>
              </a:ext>
            </a:extLst>
          </p:cNvPr>
          <p:cNvSpPr txBox="1"/>
          <p:nvPr/>
        </p:nvSpPr>
        <p:spPr>
          <a:xfrm>
            <a:off x="804971" y="3070752"/>
            <a:ext cx="18172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TNM Staging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Google Shape;262;p24">
            <a:extLst>
              <a:ext uri="{FF2B5EF4-FFF2-40B4-BE49-F238E27FC236}">
                <a16:creationId xmlns:a16="http://schemas.microsoft.com/office/drawing/2014/main" id="{A35AE16C-F967-78F4-7A32-F5B5918A43C1}"/>
              </a:ext>
            </a:extLst>
          </p:cNvPr>
          <p:cNvSpPr txBox="1"/>
          <p:nvPr/>
        </p:nvSpPr>
        <p:spPr>
          <a:xfrm>
            <a:off x="1395864" y="3314839"/>
            <a:ext cx="209205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umor size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N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odes involved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etastasis. 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Google Shape;267;p24" descr="image.png">
            <a:extLst>
              <a:ext uri="{FF2B5EF4-FFF2-40B4-BE49-F238E27FC236}">
                <a16:creationId xmlns:a16="http://schemas.microsoft.com/office/drawing/2014/main" id="{5D504EDC-4AB8-A800-1228-77F0BB879F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5864" y="2290568"/>
            <a:ext cx="804303" cy="57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59;p24" descr="image.png">
            <a:extLst>
              <a:ext uri="{FF2B5EF4-FFF2-40B4-BE49-F238E27FC236}">
                <a16:creationId xmlns:a16="http://schemas.microsoft.com/office/drawing/2014/main" id="{DB3B5506-6BF2-3D32-9269-26B14EE35C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6635" y="2182652"/>
            <a:ext cx="2679192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65;p24">
            <a:extLst>
              <a:ext uri="{FF2B5EF4-FFF2-40B4-BE49-F238E27FC236}">
                <a16:creationId xmlns:a16="http://schemas.microsoft.com/office/drawing/2014/main" id="{48AE9CE9-016B-DEFF-1E56-5C9EAD8B36E7}"/>
              </a:ext>
            </a:extLst>
          </p:cNvPr>
          <p:cNvSpPr txBox="1"/>
          <p:nvPr/>
        </p:nvSpPr>
        <p:spPr>
          <a:xfrm>
            <a:off x="7827894" y="2939509"/>
            <a:ext cx="16218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Date Rules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Google Shape;266;p24">
            <a:extLst>
              <a:ext uri="{FF2B5EF4-FFF2-40B4-BE49-F238E27FC236}">
                <a16:creationId xmlns:a16="http://schemas.microsoft.com/office/drawing/2014/main" id="{7BCA4B48-CF83-31BF-4B30-C4E2D5DA6013}"/>
              </a:ext>
            </a:extLst>
          </p:cNvPr>
          <p:cNvSpPr txBox="1"/>
          <p:nvPr/>
        </p:nvSpPr>
        <p:spPr>
          <a:xfrm>
            <a:off x="8090239" y="3234701"/>
            <a:ext cx="24055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Anchor to the first definitive diagnosis (usually the pathology report date).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Google Shape;269;p24" descr="image.png">
            <a:extLst>
              <a:ext uri="{FF2B5EF4-FFF2-40B4-BE49-F238E27FC236}">
                <a16:creationId xmlns:a16="http://schemas.microsoft.com/office/drawing/2014/main" id="{8DA19663-403A-3594-9F79-B86BE2E16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8650" y="2207139"/>
            <a:ext cx="888819" cy="687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736EE3-4A7A-2CE2-E9BA-CA4B424CCFF3}"/>
              </a:ext>
            </a:extLst>
          </p:cNvPr>
          <p:cNvSpPr txBox="1"/>
          <p:nvPr/>
        </p:nvSpPr>
        <p:spPr>
          <a:xfrm>
            <a:off x="1087666" y="5336820"/>
            <a:ext cx="218247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Used for clinical treatment planning</a:t>
            </a:r>
            <a:endParaRPr 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4D03D3-290D-0047-5E2E-C0FF1F23EA77}"/>
              </a:ext>
            </a:extLst>
          </p:cNvPr>
          <p:cNvSpPr txBox="1"/>
          <p:nvPr/>
        </p:nvSpPr>
        <p:spPr>
          <a:xfrm>
            <a:off x="4444442" y="5423446"/>
            <a:ext cx="2849494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Used for population-level comparison and Epidemiology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Google Shape;264;p24">
            <a:extLst>
              <a:ext uri="{FF2B5EF4-FFF2-40B4-BE49-F238E27FC236}">
                <a16:creationId xmlns:a16="http://schemas.microsoft.com/office/drawing/2014/main" id="{093057CE-1423-1B96-7879-5171B811FBB3}"/>
              </a:ext>
            </a:extLst>
          </p:cNvPr>
          <p:cNvSpPr txBox="1"/>
          <p:nvPr/>
        </p:nvSpPr>
        <p:spPr>
          <a:xfrm>
            <a:off x="4902095" y="3321355"/>
            <a:ext cx="169145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Localized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Regional</a:t>
            </a: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Distant. 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204407D-524F-9EB4-40D9-12E92B1E8BCA}"/>
              </a:ext>
            </a:extLst>
          </p:cNvPr>
          <p:cNvSpPr/>
          <p:nvPr/>
        </p:nvSpPr>
        <p:spPr>
          <a:xfrm rot="5400000">
            <a:off x="1869364" y="4961194"/>
            <a:ext cx="529705" cy="3603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57575"/>
              </a:solidFill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5B51BA6-D0A2-5E77-84CA-297B5E6A587F}"/>
              </a:ext>
            </a:extLst>
          </p:cNvPr>
          <p:cNvSpPr/>
          <p:nvPr/>
        </p:nvSpPr>
        <p:spPr>
          <a:xfrm rot="5400000">
            <a:off x="5341820" y="4961193"/>
            <a:ext cx="529705" cy="3603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342900" y="91585"/>
            <a:ext cx="4800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The Data Ecosystem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2617470" y="1291165"/>
            <a:ext cx="73723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Cancer data is an aggregation of multiple streams:</a:t>
            </a:r>
            <a:endParaRPr sz="20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DBA2C-84F2-762E-FE52-033123D39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31" y="1936748"/>
            <a:ext cx="9766537" cy="44439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9611" y="402999"/>
            <a:ext cx="94051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Surveillance Data Workflow: The Data Lifecycle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5AA1BB-6080-F037-F9FD-1A317045B6E4}"/>
              </a:ext>
            </a:extLst>
          </p:cNvPr>
          <p:cNvGrpSpPr/>
          <p:nvPr/>
        </p:nvGrpSpPr>
        <p:grpSpPr>
          <a:xfrm>
            <a:off x="1855470" y="2038886"/>
            <a:ext cx="7680960" cy="3218914"/>
            <a:chOff x="1981200" y="1810286"/>
            <a:chExt cx="7680960" cy="3218914"/>
          </a:xfrm>
        </p:grpSpPr>
        <p:sp>
          <p:nvSpPr>
            <p:cNvPr id="5" name="Rounded Rectangle 4"/>
            <p:cNvSpPr/>
            <p:nvPr/>
          </p:nvSpPr>
          <p:spPr>
            <a:xfrm>
              <a:off x="1981200" y="182880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 dirty="0">
                  <a:solidFill>
                    <a:schemeClr val="tx1"/>
                  </a:solidFill>
                </a:rPr>
                <a:t>🔍 1. FIND</a:t>
              </a:r>
            </a:p>
            <a:p>
              <a:pPr algn="ctr"/>
              <a:r>
                <a:rPr sz="1600" dirty="0">
                  <a:solidFill>
                    <a:schemeClr val="tx1"/>
                  </a:solidFill>
                </a:rPr>
                <a:t>Case Finding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400" y="182880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 dirty="0">
                  <a:solidFill>
                    <a:schemeClr val="tx1"/>
                  </a:solidFill>
                </a:rPr>
                <a:t>✅ 2. VERIFY</a:t>
              </a:r>
            </a:p>
            <a:p>
              <a:pPr algn="ctr"/>
              <a:r>
                <a:rPr sz="1600" dirty="0">
                  <a:solidFill>
                    <a:schemeClr val="tx1"/>
                  </a:solidFill>
                </a:rPr>
                <a:t>Eligibility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467600" y="182880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 dirty="0">
                  <a:solidFill>
                    <a:schemeClr val="tx1"/>
                  </a:solidFill>
                </a:rPr>
                <a:t>📝 3. CODE</a:t>
              </a:r>
            </a:p>
            <a:p>
              <a:pPr algn="ctr"/>
              <a:r>
                <a:rPr sz="1600" dirty="0">
                  <a:solidFill>
                    <a:schemeClr val="tx1"/>
                  </a:solidFill>
                </a:rPr>
                <a:t>Abstraction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467600" y="402336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🔬 4. CHECK</a:t>
              </a:r>
            </a:p>
            <a:p>
              <a:pPr algn="ctr"/>
              <a:r>
                <a:rPr sz="1600">
                  <a:solidFill>
                    <a:schemeClr val="tx1"/>
                  </a:solidFill>
                </a:rPr>
                <a:t>Quality Assurance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724400" y="402336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☁️ 5. SUBMIT</a:t>
              </a:r>
            </a:p>
            <a:p>
              <a:pPr algn="ctr"/>
              <a:r>
                <a:rPr sz="1600">
                  <a:solidFill>
                    <a:schemeClr val="tx1"/>
                  </a:solidFill>
                </a:rPr>
                <a:t>Central Registry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981200" y="4023360"/>
              <a:ext cx="2194560" cy="10058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📈 6. REPORT</a:t>
              </a:r>
            </a:p>
            <a:p>
              <a:pPr algn="ctr"/>
              <a:r>
                <a:rPr sz="1600">
                  <a:solidFill>
                    <a:schemeClr val="tx1"/>
                  </a:solidFill>
                </a:rPr>
                <a:t>Public Action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4175760" y="2148840"/>
              <a:ext cx="548640" cy="36576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6918960" y="2148840"/>
              <a:ext cx="548640" cy="36576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8290560" y="2868930"/>
              <a:ext cx="548640" cy="1097280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4" name="Left Arrow 13"/>
            <p:cNvSpPr/>
            <p:nvPr/>
          </p:nvSpPr>
          <p:spPr>
            <a:xfrm>
              <a:off x="6918960" y="4343400"/>
              <a:ext cx="548640" cy="365760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5" name="Left Arrow 14"/>
            <p:cNvSpPr/>
            <p:nvPr/>
          </p:nvSpPr>
          <p:spPr>
            <a:xfrm>
              <a:off x="4175760" y="4343400"/>
              <a:ext cx="548640" cy="365760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75761" y="1810286"/>
              <a:ext cx="548639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r>
                <a:rPr sz="1600" b="1" dirty="0"/>
                <a:t>QC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918960" y="1841064"/>
              <a:ext cx="492443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/>
            <a:p>
              <a:r>
                <a:rPr sz="1600" b="1"/>
                <a:t>QC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5157" y="4004846"/>
              <a:ext cx="492443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/>
            <a:p>
              <a:r>
                <a:rPr sz="1600" b="1" dirty="0"/>
                <a:t>QC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410158" y="346433"/>
            <a:ext cx="73497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5 Dimensions of Data Quality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36BBE-7B81-48EA-0B8B-333EB73A10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16" b="28084"/>
          <a:stretch>
            <a:fillRect/>
          </a:stretch>
        </p:blipFill>
        <p:spPr>
          <a:xfrm>
            <a:off x="1525103" y="1892624"/>
            <a:ext cx="2003648" cy="1454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2B2922-F548-D5CB-5DCD-F905A05D1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81" r="8892" b="29460"/>
          <a:stretch>
            <a:fillRect/>
          </a:stretch>
        </p:blipFill>
        <p:spPr>
          <a:xfrm>
            <a:off x="5277353" y="2931248"/>
            <a:ext cx="1509824" cy="1298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DF0444-A8BA-85CB-0CE9-3F5E82351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985" y="1874874"/>
            <a:ext cx="1600200" cy="120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931A9-3B00-882F-A8B1-7A6FF485E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9651" y="4295765"/>
            <a:ext cx="1689100" cy="1257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93DDA8-47EF-67AD-5FD2-FA406E50A96C}"/>
              </a:ext>
            </a:extLst>
          </p:cNvPr>
          <p:cNvGrpSpPr/>
          <p:nvPr/>
        </p:nvGrpSpPr>
        <p:grpSpPr>
          <a:xfrm>
            <a:off x="8306758" y="4295765"/>
            <a:ext cx="1562100" cy="1256967"/>
            <a:chOff x="8132578" y="2757820"/>
            <a:chExt cx="1562100" cy="12569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A731F9B-77E9-00CF-B952-864F16B7D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32578" y="3621087"/>
              <a:ext cx="1562100" cy="393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EABF74B-AFBF-2AE0-E7CE-A28CDC7FF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29428" y="2757820"/>
              <a:ext cx="1168400" cy="90170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80C38EB-6D57-3510-FAF3-12E48ADAF220}"/>
              </a:ext>
            </a:extLst>
          </p:cNvPr>
          <p:cNvSpPr txBox="1"/>
          <p:nvPr/>
        </p:nvSpPr>
        <p:spPr>
          <a:xfrm>
            <a:off x="1586724" y="3292546"/>
            <a:ext cx="2194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we capturing all eligible cases?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683A1-750C-D32E-1B63-EFC79652AAA4}"/>
              </a:ext>
            </a:extLst>
          </p:cNvPr>
          <p:cNvSpPr txBox="1"/>
          <p:nvPr/>
        </p:nvSpPr>
        <p:spPr>
          <a:xfrm>
            <a:off x="5115475" y="4230233"/>
            <a:ext cx="2003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Is the data correct and valid?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9351C-F5C3-A9D2-06C3-E8B1A2AD214A}"/>
              </a:ext>
            </a:extLst>
          </p:cNvPr>
          <p:cNvSpPr txBox="1"/>
          <p:nvPr/>
        </p:nvSpPr>
        <p:spPr>
          <a:xfrm>
            <a:off x="7968362" y="3198856"/>
            <a:ext cx="2525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Is data available rapidly enough for action?</a:t>
            </a:r>
            <a:endParaRPr lang="en-US" sz="1600" b="1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DB8AD-7B7B-E30A-A659-686C74189450}"/>
              </a:ext>
            </a:extLst>
          </p:cNvPr>
          <p:cNvSpPr txBox="1"/>
          <p:nvPr/>
        </p:nvSpPr>
        <p:spPr>
          <a:xfrm>
            <a:off x="1689684" y="5586700"/>
            <a:ext cx="239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standards applied uniformly over time?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F2870-FFB5-E6E2-63D3-04F5A048F223}"/>
              </a:ext>
            </a:extLst>
          </p:cNvPr>
          <p:cNvSpPr txBox="1"/>
          <p:nvPr/>
        </p:nvSpPr>
        <p:spPr>
          <a:xfrm>
            <a:off x="7968362" y="5619747"/>
            <a:ext cx="2227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there duplicates in the System?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4029949" y="1716803"/>
            <a:ext cx="34560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Protecting Patient Trust</a:t>
            </a:r>
            <a:endParaRPr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2547227" y="2531753"/>
            <a:ext cx="84574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RBAC: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Role-Based Access Control ensures only authorized staff see data</a:t>
            </a:r>
            <a:endParaRPr lang="en-US" sz="2000" dirty="0">
              <a:latin typeface="+mn-lt"/>
            </a:endParaRPr>
          </a:p>
        </p:txBody>
      </p:sp>
      <p:pic>
        <p:nvPicPr>
          <p:cNvPr id="345" name="Google Shape;34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410" y="2363747"/>
            <a:ext cx="1278851" cy="66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411" y="3640187"/>
            <a:ext cx="1023082" cy="66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5123" y="4911414"/>
            <a:ext cx="767311" cy="66228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9"/>
          <p:cNvSpPr txBox="1"/>
          <p:nvPr/>
        </p:nvSpPr>
        <p:spPr>
          <a:xfrm>
            <a:off x="411480" y="367309"/>
            <a:ext cx="60844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Privacy &amp; Security Cycle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Google Shape;341;p29">
            <a:extLst>
              <a:ext uri="{FF2B5EF4-FFF2-40B4-BE49-F238E27FC236}">
                <a16:creationId xmlns:a16="http://schemas.microsoft.com/office/drawing/2014/main" id="{D29859C1-C599-5C22-A956-4BCCD222598E}"/>
              </a:ext>
            </a:extLst>
          </p:cNvPr>
          <p:cNvSpPr txBox="1"/>
          <p:nvPr/>
        </p:nvSpPr>
        <p:spPr>
          <a:xfrm>
            <a:off x="2547227" y="3658821"/>
            <a:ext cx="72879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Encryption:</a:t>
            </a:r>
            <a:r>
              <a:rPr lang="en-US" sz="20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Data is encrypted in transit (VPN) and at rest.</a:t>
            </a:r>
          </a:p>
        </p:txBody>
      </p:sp>
      <p:sp>
        <p:nvSpPr>
          <p:cNvPr id="5" name="Google Shape;341;p29">
            <a:extLst>
              <a:ext uri="{FF2B5EF4-FFF2-40B4-BE49-F238E27FC236}">
                <a16:creationId xmlns:a16="http://schemas.microsoft.com/office/drawing/2014/main" id="{FC2720FB-FD38-DA5D-2FA7-9ECCF3F17F7D}"/>
              </a:ext>
            </a:extLst>
          </p:cNvPr>
          <p:cNvSpPr txBox="1"/>
          <p:nvPr/>
        </p:nvSpPr>
        <p:spPr>
          <a:xfrm>
            <a:off x="2547227" y="5011722"/>
            <a:ext cx="64214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Audit Logs:</a:t>
            </a:r>
            <a:r>
              <a:rPr lang="en-US" sz="20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Every access is tracked and monitored.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062"/>
            <a:ext cx="12192000" cy="7109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1871330"/>
            <a:ext cx="5031858" cy="361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1331"/>
            <a:ext cx="5031859" cy="36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972658" y="3447470"/>
            <a:ext cx="31921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Small-Cell Suppression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940760" y="3837287"/>
            <a:ext cx="4505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Never publish counts fewer than &lt;5-10 cases (follow state laws and policy).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Combine or suppress cells to prevent re-identification in small populations</a:t>
            </a:r>
            <a:endParaRPr sz="1600" dirty="0">
              <a:latin typeface="+mn-lt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6724651" y="3447469"/>
            <a:ext cx="24512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Aggregation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6724651" y="3837287"/>
            <a:ext cx="4505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Report data by larger geographic areas (e.g., region vs. zip code)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Use multi-year aggregates (e.g., 3-5-years) to ensure statistical stability and privacy.</a:t>
            </a:r>
            <a:endParaRPr sz="1600" dirty="0">
              <a:latin typeface="+mn-lt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471316" y="230367"/>
            <a:ext cx="41948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Reporting Safely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86F6A-96FA-32D5-1651-55D19A9DD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3987" y="1914413"/>
            <a:ext cx="1384300" cy="1371600"/>
          </a:xfrm>
          <a:prstGeom prst="rect">
            <a:avLst/>
          </a:prstGeom>
        </p:spPr>
      </p:pic>
      <p:sp>
        <p:nvSpPr>
          <p:cNvPr id="5" name="Google Shape;359;p30">
            <a:extLst>
              <a:ext uri="{FF2B5EF4-FFF2-40B4-BE49-F238E27FC236}">
                <a16:creationId xmlns:a16="http://schemas.microsoft.com/office/drawing/2014/main" id="{9BB8D4EF-AA7A-C4A4-5830-FA061E3EB8BE}"/>
              </a:ext>
            </a:extLst>
          </p:cNvPr>
          <p:cNvSpPr txBox="1"/>
          <p:nvPr/>
        </p:nvSpPr>
        <p:spPr>
          <a:xfrm>
            <a:off x="2646137" y="1430840"/>
            <a:ext cx="66563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Balancing usefulness and privacy in Cancer </a:t>
            </a:r>
            <a:r>
              <a:rPr lang="en-US" sz="2100" b="1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</a:t>
            </a: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ata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94048-7984-16D5-D5B6-8FFF55FA0836}"/>
              </a:ext>
            </a:extLst>
          </p:cNvPr>
          <p:cNvSpPr txBox="1"/>
          <p:nvPr/>
        </p:nvSpPr>
        <p:spPr>
          <a:xfrm>
            <a:off x="2786571" y="5890645"/>
            <a:ext cx="5031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  <a:latin typeface="+mn-lt"/>
              </a:rPr>
              <a:t>Goal: useful data, low disclosure risk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56319A-5C7F-3FAF-AED9-BFE115525B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10" t="14363" r="17512" b="9808"/>
          <a:stretch>
            <a:fillRect/>
          </a:stretch>
        </p:blipFill>
        <p:spPr>
          <a:xfrm>
            <a:off x="7818430" y="5583305"/>
            <a:ext cx="788359" cy="941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4798F-88FB-AD64-30C1-CC4BC2503F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020" y="1982523"/>
            <a:ext cx="1401384" cy="11540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962733" y="1608718"/>
            <a:ext cx="400267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Questions?</a:t>
            </a:r>
            <a:endParaRPr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1896139" y="2441088"/>
            <a:ext cx="8066567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Thank you for your attention</a:t>
            </a:r>
            <a:endParaRPr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3172046" y="3519753"/>
            <a:ext cx="749240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Next Steps: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Complete the post-session assessment.</a:t>
            </a:r>
            <a:endParaRPr sz="24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529</Words>
  <Application>Microsoft Macintosh PowerPoint</Application>
  <PresentationFormat>Widescreen</PresentationFormat>
  <Paragraphs>91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Wingdings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Shah, Rauf</cp:lastModifiedBy>
  <cp:revision>23</cp:revision>
  <dcterms:modified xsi:type="dcterms:W3CDTF">2025-12-11T16:22:39Z</dcterms:modified>
  <cp:category/>
</cp:coreProperties>
</file>