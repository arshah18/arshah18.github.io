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DM Sans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F7EAD-A329-4BCF-9AF6-26A41C33BBF3}">
  <a:tblStyle styleId="{387F7EAD-A329-4BCF-9AF6-26A41C33BB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25"/>
  </p:normalViewPr>
  <p:slideViewPr>
    <p:cSldViewPr snapToGrid="0">
      <p:cViewPr>
        <p:scale>
          <a:sx n="120" d="100"/>
          <a:sy n="120" d="100"/>
        </p:scale>
        <p:origin x="1984" y="7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5;p14" descr="image.png">
            <a:extLst>
              <a:ext uri="{FF2B5EF4-FFF2-40B4-BE49-F238E27FC236}">
                <a16:creationId xmlns:a16="http://schemas.microsoft.com/office/drawing/2014/main" id="{AB52C3AF-AEC3-F586-9ECE-2C450CF346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37903" y="964365"/>
            <a:ext cx="77161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Cancer Surveillance:</a:t>
            </a:r>
            <a:b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</a:br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ea typeface="DM Sans"/>
                <a:cs typeface="DM Sans"/>
                <a:sym typeface="DM Sans"/>
              </a:rPr>
              <a:t>From Data to Public Health Action</a:t>
            </a:r>
            <a:endParaRPr lang="en-US" sz="36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97695" y="2072361"/>
            <a:ext cx="719660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DM Sans"/>
                <a:cs typeface="DM Sans"/>
                <a:sym typeface="DM Sans"/>
              </a:rPr>
              <a:t>Synchronous Session: Concepts, Practice &amp; Application</a:t>
            </a:r>
            <a:endParaRPr sz="20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EE79818-8646-D9FE-400B-2F3A6968C63B}"/>
              </a:ext>
            </a:extLst>
          </p:cNvPr>
          <p:cNvSpPr txBox="1"/>
          <p:nvPr/>
        </p:nvSpPr>
        <p:spPr>
          <a:xfrm>
            <a:off x="3389884" y="3457257"/>
            <a:ext cx="497205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715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Rauf</a:t>
            </a:r>
            <a:r>
              <a:rPr sz="1800" spc="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Shah,</a:t>
            </a:r>
            <a:r>
              <a:rPr sz="1800" spc="1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spc="-2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MPH-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EPI</a:t>
            </a:r>
            <a:r>
              <a:rPr sz="1800" spc="2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(Fall</a:t>
            </a:r>
            <a:r>
              <a:rPr sz="1800" spc="-3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2025)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Course: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PUBLIC</a:t>
            </a:r>
            <a:r>
              <a:rPr sz="1800" b="1" spc="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2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HEALTH</a:t>
            </a: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TEACHING</a:t>
            </a:r>
            <a:r>
              <a:rPr sz="1800" b="1" spc="-13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AND</a:t>
            </a:r>
            <a:r>
              <a:rPr sz="1800" b="1" spc="-35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 </a:t>
            </a:r>
            <a:r>
              <a:rPr sz="1800" b="1" spc="-1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cs typeface="Times New Roman"/>
              </a:rPr>
              <a:t>TRAINING</a:t>
            </a:r>
            <a:endParaRPr sz="1800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cs typeface="Times New Roman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C28D786-DA0F-7779-421D-42014400AC6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29075" y="4772025"/>
            <a:ext cx="38862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29;p16" descr="image.png">
            <a:extLst>
              <a:ext uri="{FF2B5EF4-FFF2-40B4-BE49-F238E27FC236}">
                <a16:creationId xmlns:a16="http://schemas.microsoft.com/office/drawing/2014/main" id="{A8787317-8D99-A141-1684-D734F6C46A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94228" y="3435004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Define &amp; Compare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901729"/>
            <a:ext cx="335050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Distinguish between passive, active, sentinel, and syndromic surveillance methods.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572375" y="3435004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Apply Rules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835426" y="3901729"/>
            <a:ext cx="29018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Utilize ICD-O-3, staging systems, and reportability rules to classify cases accurately.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350679" y="3435004"/>
            <a:ext cx="304694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Identify Workflow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88345" y="3901729"/>
            <a:ext cx="2571609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Map the end-to-end data lifecycle from case finding to quality reporting.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3570" y="2400287"/>
            <a:ext cx="897099" cy="821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4745" y="2400287"/>
            <a:ext cx="1053264" cy="821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25662" y="2400287"/>
            <a:ext cx="1053264" cy="8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Learning Objectives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59B4CCFB-25A9-6D2A-3B84-E5830F2228AB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29;p16" descr="image.png">
            <a:extLst>
              <a:ext uri="{FF2B5EF4-FFF2-40B4-BE49-F238E27FC236}">
                <a16:creationId xmlns:a16="http://schemas.microsoft.com/office/drawing/2014/main" id="{47FA0CD3-FA2E-ED36-91DA-71D472B3D4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113" name="Google Shape;113;p15"/>
          <p:cNvSpPr txBox="1"/>
          <p:nvPr/>
        </p:nvSpPr>
        <p:spPr>
          <a:xfrm>
            <a:off x="1093595" y="1720647"/>
            <a:ext cx="7322930" cy="346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Introduction &amp; Poll: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Assessing our baseline knowledge.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Types &amp; Definitions: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The "What" and "How" of surveillance.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Workflow &amp; Reporting: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The journey of a data point.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Breakout Session: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Applying concepts to a "Rural Spike" mystery.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Practical Applications &amp; Q&amp;A: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Wrap-up and next steps.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Session Agenda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5" name="Google Shape;107;p14">
            <a:extLst>
              <a:ext uri="{FF2B5EF4-FFF2-40B4-BE49-F238E27FC236}">
                <a16:creationId xmlns:a16="http://schemas.microsoft.com/office/drawing/2014/main" id="{E047FEDB-AEDD-0481-9B1B-FF02C592BC4A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31965"/>
            <a:ext cx="52863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2312" y="22050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2697509"/>
            <a:ext cx="5550693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Check-In Question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392834"/>
            <a:ext cx="52863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How confident are you currently in defining </a:t>
            </a:r>
            <a:r>
              <a:rPr lang="en-US" sz="2100" b="1" i="0" u="none" strike="noStrike" cap="none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'Passive'</a:t>
            </a:r>
            <a:r>
              <a:rPr lang="en-US" sz="2100" b="0" i="0" u="none" strike="noStrike" cap="none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vs </a:t>
            </a:r>
            <a:r>
              <a:rPr lang="en-US" sz="2100" b="1" i="0" u="none" strike="noStrike" cap="none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'Active'</a:t>
            </a:r>
            <a:r>
              <a:rPr lang="en-US" sz="2100" b="0" i="0" u="none" strike="noStrike" cap="none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surveillance?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09624" y="4722465"/>
            <a:ext cx="49529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Instructions: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Please select your answer in the Zoom poll window.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72312" y="22050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571500"/>
            <a:ext cx="44632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Live Poll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00F568F4-0C93-8184-5225-BA6D39688C5C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1104900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434012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Breast and Lung cancer account for the highest volume of new cases globally.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571500"/>
            <a:ext cx="1000789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Global Cancer Burden: Incidence (2022)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4B8CE5B2-A85C-2984-A08C-D923CCEEC411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1104900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54340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Lung cancer dominates mortality, highlighting the need for early detection.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71500"/>
            <a:ext cx="889762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Global Cancer Burden: Mortality (2022)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08802417-FCCF-F3B0-C20B-17DBE73609A0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7937"/>
            <a:ext cx="5286375" cy="3051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67937"/>
            <a:ext cx="5286375" cy="305181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1043305" y="2973387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Incidence Insights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848475" y="3011487"/>
            <a:ext cx="3275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Mortality Insights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0114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1152525" y="3326447"/>
            <a:ext cx="46101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~20 million new cases annually.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Breast cancer is the most diagnosed.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High prevalence implies a growing need for survivorship care.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9412" y="304958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825297" y="3326447"/>
            <a:ext cx="43148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~9.7 million deaths annually.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Lung cancer is the leading cause of death.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Disparities in outcomes persist globally.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5524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The Burden Summary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4" name="Google Shape;107;p14">
            <a:extLst>
              <a:ext uri="{FF2B5EF4-FFF2-40B4-BE49-F238E27FC236}">
                <a16:creationId xmlns:a16="http://schemas.microsoft.com/office/drawing/2014/main" id="{C1BF5CA5-F618-FC42-496B-688C3BF4F8FB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85;p20" descr="image.png">
            <a:extLst>
              <a:ext uri="{FF2B5EF4-FFF2-40B4-BE49-F238E27FC236}">
                <a16:creationId xmlns:a16="http://schemas.microsoft.com/office/drawing/2014/main" id="{D03C7901-BE73-7B5E-8BB5-C46547F17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Surveillance Approaches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6" name="Picture 5" descr="A screenshot of a cancer surveillance approaches&#10;&#10;AI-generated content may be incorrect.">
            <a:extLst>
              <a:ext uri="{FF2B5EF4-FFF2-40B4-BE49-F238E27FC236}">
                <a16:creationId xmlns:a16="http://schemas.microsoft.com/office/drawing/2014/main" id="{07058250-17D2-D347-1FAE-454A95B7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24" t="17210" r="3902"/>
          <a:stretch>
            <a:fillRect/>
          </a:stretch>
        </p:blipFill>
        <p:spPr>
          <a:xfrm>
            <a:off x="2604975" y="1442440"/>
            <a:ext cx="5613991" cy="5086593"/>
          </a:xfrm>
          <a:prstGeom prst="rect">
            <a:avLst/>
          </a:prstGeom>
        </p:spPr>
      </p:pic>
      <p:sp>
        <p:nvSpPr>
          <p:cNvPr id="7" name="Google Shape;107;p14">
            <a:extLst>
              <a:ext uri="{FF2B5EF4-FFF2-40B4-BE49-F238E27FC236}">
                <a16:creationId xmlns:a16="http://schemas.microsoft.com/office/drawing/2014/main" id="{C38D135F-7427-5C17-3CCA-771986009D37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833022" y="4968796"/>
            <a:ext cx="88011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Effective surveillance identifies at-risk populations to target these interventions.</a:t>
            </a:r>
            <a:endParaRPr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From Data to Screening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D9FE3-CE37-A4C5-39DC-33BEA81A6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9" t="6815" r="3750" b="18577"/>
          <a:stretch>
            <a:fillRect/>
          </a:stretch>
        </p:blipFill>
        <p:spPr>
          <a:xfrm>
            <a:off x="560592" y="2205652"/>
            <a:ext cx="6064524" cy="211079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1E70736-D547-10D5-AE8A-0F37A9C3F041}"/>
              </a:ext>
            </a:extLst>
          </p:cNvPr>
          <p:cNvGrpSpPr/>
          <p:nvPr/>
        </p:nvGrpSpPr>
        <p:grpSpPr>
          <a:xfrm>
            <a:off x="6756935" y="2029945"/>
            <a:ext cx="4955914" cy="2462213"/>
            <a:chOff x="6756935" y="2029945"/>
            <a:chExt cx="4955914" cy="2462213"/>
          </a:xfrm>
        </p:grpSpPr>
        <p:sp>
          <p:nvSpPr>
            <p:cNvPr id="7" name="Google Shape;212;p21">
              <a:extLst>
                <a:ext uri="{FF2B5EF4-FFF2-40B4-BE49-F238E27FC236}">
                  <a16:creationId xmlns:a16="http://schemas.microsoft.com/office/drawing/2014/main" id="{4CFC0A47-FE08-6BA1-493D-F2E5C6A359DA}"/>
                </a:ext>
              </a:extLst>
            </p:cNvPr>
            <p:cNvSpPr txBox="1"/>
            <p:nvPr/>
          </p:nvSpPr>
          <p:spPr>
            <a:xfrm>
              <a:off x="7188474" y="2029945"/>
              <a:ext cx="4524375" cy="2462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2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Lung:</a:t>
              </a:r>
              <a:r>
                <a:rPr lang="en-US" sz="1600" b="0" i="0" u="none" strike="noStrike" cap="none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 Low-dose CT for high-risk smokers.</a:t>
              </a:r>
            </a:p>
            <a:p>
              <a:pPr>
                <a:lnSpc>
                  <a:spcPct val="250000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Breast:</a:t>
              </a:r>
              <a:r>
                <a:rPr lang="en-US" sz="1600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 Mammograms for women 40+.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  <a:p>
              <a:pPr>
                <a:lnSpc>
                  <a:spcPct val="250000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Colorectal:</a:t>
              </a:r>
              <a:r>
                <a:rPr lang="en-US" sz="1600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 Colonoscopy or Stool tests for 45+.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  <a:p>
              <a:pPr>
                <a:lnSpc>
                  <a:spcPct val="250000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Prostate:</a:t>
              </a:r>
              <a:r>
                <a:rPr lang="en-US" sz="1600" dirty="0">
                  <a:solidFill>
                    <a:schemeClr val="tx1"/>
                  </a:solidFill>
                  <a:latin typeface="+mn-lt"/>
                  <a:ea typeface="DM Sans"/>
                  <a:cs typeface="DM Sans"/>
                  <a:sym typeface="DM Sans"/>
                </a:rPr>
                <a:t> PSA testing for men 45+.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8" name="Google Shape;217;p21" descr="image.png">
              <a:extLst>
                <a:ext uri="{FF2B5EF4-FFF2-40B4-BE49-F238E27FC236}">
                  <a16:creationId xmlns:a16="http://schemas.microsoft.com/office/drawing/2014/main" id="{47BAC05E-0999-0E6C-9F2E-7C9B4B87DFF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56935" y="2248684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218;p21" descr="image.png">
              <a:extLst>
                <a:ext uri="{FF2B5EF4-FFF2-40B4-BE49-F238E27FC236}">
                  <a16:creationId xmlns:a16="http://schemas.microsoft.com/office/drawing/2014/main" id="{3C4D9CA3-1153-4E68-2543-6B686D2094E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17895" y="2906455"/>
              <a:ext cx="200025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219;p21" descr="image.png">
              <a:extLst>
                <a:ext uri="{FF2B5EF4-FFF2-40B4-BE49-F238E27FC236}">
                  <a16:creationId xmlns:a16="http://schemas.microsoft.com/office/drawing/2014/main" id="{28D3F83A-4663-3A43-F111-2AD89E728D8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807735" y="3523585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20;p21" descr="image.png">
              <a:extLst>
                <a:ext uri="{FF2B5EF4-FFF2-40B4-BE49-F238E27FC236}">
                  <a16:creationId xmlns:a16="http://schemas.microsoft.com/office/drawing/2014/main" id="{2E379064-614C-D3A6-996A-981D074D40FE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95670" y="4140715"/>
              <a:ext cx="200025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07;p14">
            <a:extLst>
              <a:ext uri="{FF2B5EF4-FFF2-40B4-BE49-F238E27FC236}">
                <a16:creationId xmlns:a16="http://schemas.microsoft.com/office/drawing/2014/main" id="{A5E56B6F-2A7A-E6D7-D3E6-2D955DF4AAF0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0" y="449864"/>
            <a:ext cx="110490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Right Data → Right Test → Right Time</a:t>
            </a:r>
            <a:endParaRPr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3186953" y="6171244"/>
            <a:ext cx="660922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Surveillance turns signals into saved lives.</a:t>
            </a:r>
            <a:endParaRPr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2" descr="What kind of cancer screening test do we need to undergo?">
            <a:extLst>
              <a:ext uri="{FF2B5EF4-FFF2-40B4-BE49-F238E27FC236}">
                <a16:creationId xmlns:a16="http://schemas.microsoft.com/office/drawing/2014/main" id="{E0D88268-8C60-7367-A946-CB334BC47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5" t="8036" r="6691" b="7032"/>
          <a:stretch>
            <a:fillRect/>
          </a:stretch>
        </p:blipFill>
        <p:spPr bwMode="auto">
          <a:xfrm>
            <a:off x="3186953" y="1128511"/>
            <a:ext cx="4960828" cy="491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6"/>
            <a:ext cx="5286375" cy="376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19337"/>
            <a:ext cx="5286375" cy="376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758" y="3346029"/>
            <a:ext cx="4955857" cy="2396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62025" y="2548279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ICD-O-3 Standards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62025" y="2915721"/>
            <a:ext cx="45053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The global standard for coding cancer cases.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724650" y="2514600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Reportability Rules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724650" y="2837765"/>
            <a:ext cx="4730591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Determines which cases must be included in the registry.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63255" y="3433286"/>
            <a:ext cx="4404094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Topography: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Site of origin (e.g., C50.9 Breast)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Morphology:</a:t>
            </a:r>
            <a:r>
              <a:rPr lang="en-US" sz="1600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Cell type (e.g., 8500/3 Infiltrating Duct)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571500"/>
            <a:ext cx="54465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Defining the Case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43D066D5-E80F-3620-3F2E-5F07A4A8D643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38;p23" descr="image.png">
            <a:extLst>
              <a:ext uri="{FF2B5EF4-FFF2-40B4-BE49-F238E27FC236}">
                <a16:creationId xmlns:a16="http://schemas.microsoft.com/office/drawing/2014/main" id="{8A761442-F1D7-BD83-B3B4-98EA468514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375" y="3625673"/>
            <a:ext cx="4955857" cy="17383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6;p23">
            <a:extLst>
              <a:ext uri="{FF2B5EF4-FFF2-40B4-BE49-F238E27FC236}">
                <a16:creationId xmlns:a16="http://schemas.microsoft.com/office/drawing/2014/main" id="{C3811075-1377-2AF2-1002-C18CB51CFE3A}"/>
              </a:ext>
            </a:extLst>
          </p:cNvPr>
          <p:cNvSpPr txBox="1"/>
          <p:nvPr/>
        </p:nvSpPr>
        <p:spPr>
          <a:xfrm>
            <a:off x="6845140" y="3666422"/>
            <a:ext cx="4124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Malignant (/3):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Always reportable.</a:t>
            </a:r>
          </a:p>
          <a:p>
            <a:pPr marL="285750" lvl="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In Situ (/2):</a:t>
            </a: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 Most are reportable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Benign (/0):</a:t>
            </a:r>
            <a:r>
              <a:rPr lang="en-US" sz="1600" dirty="0">
                <a:solidFill>
                  <a:schemeClr val="tx1"/>
                </a:solidFill>
                <a:ea typeface="DM Sans"/>
                <a:cs typeface="DM Sans"/>
                <a:sym typeface="DM Sans"/>
              </a:rPr>
              <a:t> Generally not, except CNS.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1798" y="2182652"/>
            <a:ext cx="2682951" cy="26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4444441" y="2939509"/>
            <a:ext cx="211765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SEER Summary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68" name="Google Shape;26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9116" y="2274374"/>
            <a:ext cx="785888" cy="6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Staging &amp; Rules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3" name="Google Shape;259;p24" descr="image.png">
            <a:extLst>
              <a:ext uri="{FF2B5EF4-FFF2-40B4-BE49-F238E27FC236}">
                <a16:creationId xmlns:a16="http://schemas.microsoft.com/office/drawing/2014/main" id="{D6CB14F1-A39B-FC91-3783-82852922B4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4970" y="2182652"/>
            <a:ext cx="2682951" cy="269387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61;p24">
            <a:extLst>
              <a:ext uri="{FF2B5EF4-FFF2-40B4-BE49-F238E27FC236}">
                <a16:creationId xmlns:a16="http://schemas.microsoft.com/office/drawing/2014/main" id="{377CC6BF-3336-6AA5-8816-1E4488CAAB50}"/>
              </a:ext>
            </a:extLst>
          </p:cNvPr>
          <p:cNvSpPr txBox="1"/>
          <p:nvPr/>
        </p:nvSpPr>
        <p:spPr>
          <a:xfrm>
            <a:off x="804971" y="3070752"/>
            <a:ext cx="181720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TNM Staging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Google Shape;262;p24">
            <a:extLst>
              <a:ext uri="{FF2B5EF4-FFF2-40B4-BE49-F238E27FC236}">
                <a16:creationId xmlns:a16="http://schemas.microsoft.com/office/drawing/2014/main" id="{A35AE16C-F967-78F4-7A32-F5B5918A43C1}"/>
              </a:ext>
            </a:extLst>
          </p:cNvPr>
          <p:cNvSpPr txBox="1"/>
          <p:nvPr/>
        </p:nvSpPr>
        <p:spPr>
          <a:xfrm>
            <a:off x="1395864" y="3314839"/>
            <a:ext cx="209205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umor size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N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odes involved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M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etastasis. 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Google Shape;267;p24" descr="image.png">
            <a:extLst>
              <a:ext uri="{FF2B5EF4-FFF2-40B4-BE49-F238E27FC236}">
                <a16:creationId xmlns:a16="http://schemas.microsoft.com/office/drawing/2014/main" id="{5D504EDC-4AB8-A800-1228-77F0BB879F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5864" y="2290568"/>
            <a:ext cx="804303" cy="57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59;p24" descr="image.png">
            <a:extLst>
              <a:ext uri="{FF2B5EF4-FFF2-40B4-BE49-F238E27FC236}">
                <a16:creationId xmlns:a16="http://schemas.microsoft.com/office/drawing/2014/main" id="{DB3B5506-6BF2-3D32-9269-26B14EE35C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6635" y="2182652"/>
            <a:ext cx="2679192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65;p24">
            <a:extLst>
              <a:ext uri="{FF2B5EF4-FFF2-40B4-BE49-F238E27FC236}">
                <a16:creationId xmlns:a16="http://schemas.microsoft.com/office/drawing/2014/main" id="{48AE9CE9-016B-DEFF-1E56-5C9EAD8B36E7}"/>
              </a:ext>
            </a:extLst>
          </p:cNvPr>
          <p:cNvSpPr txBox="1"/>
          <p:nvPr/>
        </p:nvSpPr>
        <p:spPr>
          <a:xfrm>
            <a:off x="7827894" y="2939509"/>
            <a:ext cx="16218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Date Rules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Google Shape;266;p24">
            <a:extLst>
              <a:ext uri="{FF2B5EF4-FFF2-40B4-BE49-F238E27FC236}">
                <a16:creationId xmlns:a16="http://schemas.microsoft.com/office/drawing/2014/main" id="{7BCA4B48-CF83-31BF-4B30-C4E2D5DA6013}"/>
              </a:ext>
            </a:extLst>
          </p:cNvPr>
          <p:cNvSpPr txBox="1"/>
          <p:nvPr/>
        </p:nvSpPr>
        <p:spPr>
          <a:xfrm>
            <a:off x="8090239" y="3234701"/>
            <a:ext cx="24055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Anchor to the first definitive diagnosis (usually the pathology report date).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Google Shape;269;p24" descr="image.png">
            <a:extLst>
              <a:ext uri="{FF2B5EF4-FFF2-40B4-BE49-F238E27FC236}">
                <a16:creationId xmlns:a16="http://schemas.microsoft.com/office/drawing/2014/main" id="{8DA19663-403A-3594-9F79-B86BE2E16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18650" y="2207139"/>
            <a:ext cx="888819" cy="687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736EE3-4A7A-2CE2-E9BA-CA4B424CCFF3}"/>
              </a:ext>
            </a:extLst>
          </p:cNvPr>
          <p:cNvSpPr txBox="1"/>
          <p:nvPr/>
        </p:nvSpPr>
        <p:spPr>
          <a:xfrm>
            <a:off x="1087666" y="5336820"/>
            <a:ext cx="218247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Used for clinical treatment planning</a:t>
            </a:r>
            <a:endParaRPr lang="en-US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4D03D3-290D-0047-5E2E-C0FF1F23EA77}"/>
              </a:ext>
            </a:extLst>
          </p:cNvPr>
          <p:cNvSpPr txBox="1"/>
          <p:nvPr/>
        </p:nvSpPr>
        <p:spPr>
          <a:xfrm>
            <a:off x="4444442" y="5423446"/>
            <a:ext cx="2849494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Used for population-level comparison and Epidemiology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Google Shape;264;p24">
            <a:extLst>
              <a:ext uri="{FF2B5EF4-FFF2-40B4-BE49-F238E27FC236}">
                <a16:creationId xmlns:a16="http://schemas.microsoft.com/office/drawing/2014/main" id="{093057CE-1423-1B96-7879-5171B811FBB3}"/>
              </a:ext>
            </a:extLst>
          </p:cNvPr>
          <p:cNvSpPr txBox="1"/>
          <p:nvPr/>
        </p:nvSpPr>
        <p:spPr>
          <a:xfrm>
            <a:off x="4902095" y="3321355"/>
            <a:ext cx="169145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Localized</a:t>
            </a:r>
            <a:endParaRPr lang="en-US" sz="1600" dirty="0">
              <a:solidFill>
                <a:schemeClr val="tx1"/>
              </a:solidFill>
              <a:latin typeface="+mn-lt"/>
              <a:ea typeface="DM Sans"/>
              <a:cs typeface="DM Sans"/>
              <a:sym typeface="DM Sans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Regional</a:t>
            </a: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Distant. 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204407D-524F-9EB4-40D9-12E92B1E8BCA}"/>
              </a:ext>
            </a:extLst>
          </p:cNvPr>
          <p:cNvSpPr/>
          <p:nvPr/>
        </p:nvSpPr>
        <p:spPr>
          <a:xfrm rot="5400000">
            <a:off x="1869364" y="4961194"/>
            <a:ext cx="529705" cy="3603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57575"/>
              </a:solidFill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5B51BA6-D0A2-5E77-84CA-297B5E6A587F}"/>
              </a:ext>
            </a:extLst>
          </p:cNvPr>
          <p:cNvSpPr/>
          <p:nvPr/>
        </p:nvSpPr>
        <p:spPr>
          <a:xfrm rot="5400000">
            <a:off x="5341820" y="4961193"/>
            <a:ext cx="529705" cy="3603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57575"/>
              </a:solidFill>
            </a:endParaRPr>
          </a:p>
        </p:txBody>
      </p:sp>
      <p:sp>
        <p:nvSpPr>
          <p:cNvPr id="21" name="Google Shape;107;p14">
            <a:extLst>
              <a:ext uri="{FF2B5EF4-FFF2-40B4-BE49-F238E27FC236}">
                <a16:creationId xmlns:a16="http://schemas.microsoft.com/office/drawing/2014/main" id="{73882261-58CE-AA07-1024-32AB3C688156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762000" y="596745"/>
            <a:ext cx="4800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The Data Ecosystem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3505200" y="1708650"/>
            <a:ext cx="5989674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Cancer data is an aggregation of multiple streams:</a:t>
            </a:r>
            <a:endParaRPr sz="1600" b="1" dirty="0"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11B1A415-43E7-8290-ECD4-D8416EE5AA65}"/>
              </a:ext>
            </a:extLst>
          </p:cNvPr>
          <p:cNvSpPr/>
          <p:nvPr/>
        </p:nvSpPr>
        <p:spPr>
          <a:xfrm>
            <a:off x="571500" y="1271300"/>
            <a:ext cx="11049000" cy="914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DBA2C-84F2-762E-FE52-033123D39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483" y="2314601"/>
            <a:ext cx="8328837" cy="37897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571500" y="571500"/>
            <a:ext cx="73497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5 Dimensions of Data Quality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36BBE-7B81-48EA-0B8B-333EB73A10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16" b="28084"/>
          <a:stretch>
            <a:fillRect/>
          </a:stretch>
        </p:blipFill>
        <p:spPr>
          <a:xfrm>
            <a:off x="1525103" y="1892624"/>
            <a:ext cx="2003648" cy="1454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2B2922-F548-D5CB-5DCD-F905A05D1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81" r="8892" b="29460"/>
          <a:stretch>
            <a:fillRect/>
          </a:stretch>
        </p:blipFill>
        <p:spPr>
          <a:xfrm>
            <a:off x="5277353" y="2931248"/>
            <a:ext cx="1509824" cy="1298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DF0444-A8BA-85CB-0CE9-3F5E82351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985" y="1874874"/>
            <a:ext cx="1600200" cy="1206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6931A9-3B00-882F-A8B1-7A6FF485E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9651" y="4295765"/>
            <a:ext cx="1689100" cy="12573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493DDA8-47EF-67AD-5FD2-FA406E50A96C}"/>
              </a:ext>
            </a:extLst>
          </p:cNvPr>
          <p:cNvGrpSpPr/>
          <p:nvPr/>
        </p:nvGrpSpPr>
        <p:grpSpPr>
          <a:xfrm>
            <a:off x="8306758" y="4295765"/>
            <a:ext cx="1562100" cy="1256967"/>
            <a:chOff x="8132578" y="2757820"/>
            <a:chExt cx="1562100" cy="125696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A731F9B-77E9-00CF-B952-864F16B7D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32578" y="3621087"/>
              <a:ext cx="1562100" cy="393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EABF74B-AFBF-2AE0-E7CE-A28CDC7FF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29428" y="2757820"/>
              <a:ext cx="1168400" cy="90170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80C38EB-6D57-3510-FAF3-12E48ADAF220}"/>
              </a:ext>
            </a:extLst>
          </p:cNvPr>
          <p:cNvSpPr txBox="1"/>
          <p:nvPr/>
        </p:nvSpPr>
        <p:spPr>
          <a:xfrm>
            <a:off x="1586724" y="3292546"/>
            <a:ext cx="21949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we capturing all eligible cases?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683A1-750C-D32E-1B63-EFC79652AAA4}"/>
              </a:ext>
            </a:extLst>
          </p:cNvPr>
          <p:cNvSpPr txBox="1"/>
          <p:nvPr/>
        </p:nvSpPr>
        <p:spPr>
          <a:xfrm>
            <a:off x="5115475" y="4230233"/>
            <a:ext cx="2003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Is the data correct and valid?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9351C-F5C3-A9D2-06C3-E8B1A2AD214A}"/>
              </a:ext>
            </a:extLst>
          </p:cNvPr>
          <p:cNvSpPr txBox="1"/>
          <p:nvPr/>
        </p:nvSpPr>
        <p:spPr>
          <a:xfrm>
            <a:off x="7968362" y="3198856"/>
            <a:ext cx="2525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Is data available rapidly enough for action?</a:t>
            </a:r>
            <a:endParaRPr lang="en-US" sz="1600" b="1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2DB8AD-7B7B-E30A-A659-686C74189450}"/>
              </a:ext>
            </a:extLst>
          </p:cNvPr>
          <p:cNvSpPr txBox="1"/>
          <p:nvPr/>
        </p:nvSpPr>
        <p:spPr>
          <a:xfrm>
            <a:off x="1689684" y="5586700"/>
            <a:ext cx="2395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standards applied uniformly over time?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4F2870-FFB5-E6E2-63D3-04F5A048F223}"/>
              </a:ext>
            </a:extLst>
          </p:cNvPr>
          <p:cNvSpPr txBox="1"/>
          <p:nvPr/>
        </p:nvSpPr>
        <p:spPr>
          <a:xfrm>
            <a:off x="7968362" y="5619747"/>
            <a:ext cx="22274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Are there duplicates in the System?</a:t>
            </a:r>
          </a:p>
        </p:txBody>
      </p:sp>
      <p:sp>
        <p:nvSpPr>
          <p:cNvPr id="21" name="Google Shape;107;p14">
            <a:extLst>
              <a:ext uri="{FF2B5EF4-FFF2-40B4-BE49-F238E27FC236}">
                <a16:creationId xmlns:a16="http://schemas.microsoft.com/office/drawing/2014/main" id="{EEDCF635-41E2-242A-B6DD-BB9813D78D36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4">
            <a:alphaModFix/>
          </a:blip>
          <a:srcRect l="5955" t="12416" b="26423"/>
          <a:stretch>
            <a:fillRect/>
          </a:stretch>
        </p:blipFill>
        <p:spPr>
          <a:xfrm>
            <a:off x="907312" y="2175705"/>
            <a:ext cx="10097386" cy="241756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3175591" y="5270531"/>
            <a:ext cx="5734493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Meeting these standards ensures data is “Fit for Use</a:t>
            </a:r>
            <a:r>
              <a:rPr lang="en-US" sz="16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”</a:t>
            </a:r>
            <a:endParaRPr sz="1600" b="1" dirty="0">
              <a:latin typeface="+mn-lt"/>
            </a:endParaRPr>
          </a:p>
        </p:txBody>
      </p:sp>
      <p:sp>
        <p:nvSpPr>
          <p:cNvPr id="313" name="Google Shape;313;p27"/>
          <p:cNvSpPr txBox="1"/>
          <p:nvPr/>
        </p:nvSpPr>
        <p:spPr>
          <a:xfrm>
            <a:off x="571500" y="571500"/>
            <a:ext cx="65416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NPCR Data Quality Targets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055C2957-8039-F54C-98DF-4549B69DF1E4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696998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3626514"/>
            <a:ext cx="5286375" cy="242341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5715000" y="2081391"/>
            <a:ext cx="27992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Task Overview (10 Mins)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5715000" y="2826414"/>
            <a:ext cx="5286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Scenario: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A 20% spike in late-stage lung cancer in a rural county after a new EHR rollout.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24" name="Google Shape;32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1696998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5905500" y="395988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Your Mission: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6286500" y="4455189"/>
            <a:ext cx="4572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Is this a real cluster or a data artifact?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Which Quality Dimension is at risk?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Propose one check to verify.</a:t>
            </a:r>
            <a:endParaRPr lang="en-US" sz="1600" dirty="0">
              <a:latin typeface="+mn-lt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571500" y="571500"/>
            <a:ext cx="840237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Breakout Session: The “Rural Spike”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470FBBF2-10F1-B2E9-C766-E9194A088937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3944F-FB81-7234-E287-B54014537B82}"/>
              </a:ext>
            </a:extLst>
          </p:cNvPr>
          <p:cNvSpPr txBox="1"/>
          <p:nvPr/>
        </p:nvSpPr>
        <p:spPr>
          <a:xfrm>
            <a:off x="1953844" y="2194470"/>
            <a:ext cx="1618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Group Activity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2639977" y="1790901"/>
            <a:ext cx="34560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Protecting Patient Trust</a:t>
            </a:r>
            <a:endParaRPr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2547227" y="2531753"/>
            <a:ext cx="84574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RBAC:</a:t>
            </a:r>
            <a:r>
              <a:rPr lang="en-US" sz="20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Role-Based Access Control ensures only authorized staff see data</a:t>
            </a:r>
            <a:endParaRPr lang="en-US" sz="2000" dirty="0">
              <a:latin typeface="+mn-lt"/>
            </a:endParaRPr>
          </a:p>
        </p:txBody>
      </p:sp>
      <p:pic>
        <p:nvPicPr>
          <p:cNvPr id="345" name="Google Shape;34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8410" y="2363747"/>
            <a:ext cx="1278851" cy="66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411" y="3640187"/>
            <a:ext cx="1023082" cy="66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5123" y="4911414"/>
            <a:ext cx="767311" cy="66228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9"/>
          <p:cNvSpPr txBox="1"/>
          <p:nvPr/>
        </p:nvSpPr>
        <p:spPr>
          <a:xfrm>
            <a:off x="571500" y="571500"/>
            <a:ext cx="60844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Privacy &amp; Security Cycle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47DE162A-D9F2-B758-7AE2-0B0B31695D7E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41;p29">
            <a:extLst>
              <a:ext uri="{FF2B5EF4-FFF2-40B4-BE49-F238E27FC236}">
                <a16:creationId xmlns:a16="http://schemas.microsoft.com/office/drawing/2014/main" id="{D29859C1-C599-5C22-A956-4BCCD222598E}"/>
              </a:ext>
            </a:extLst>
          </p:cNvPr>
          <p:cNvSpPr txBox="1"/>
          <p:nvPr/>
        </p:nvSpPr>
        <p:spPr>
          <a:xfrm>
            <a:off x="2547227" y="3658821"/>
            <a:ext cx="72879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Encryption:</a:t>
            </a:r>
            <a:r>
              <a:rPr lang="en-US" sz="20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Data is encrypted in transit (VPN) and at rest.</a:t>
            </a:r>
          </a:p>
        </p:txBody>
      </p:sp>
      <p:sp>
        <p:nvSpPr>
          <p:cNvPr id="5" name="Google Shape;341;p29">
            <a:extLst>
              <a:ext uri="{FF2B5EF4-FFF2-40B4-BE49-F238E27FC236}">
                <a16:creationId xmlns:a16="http://schemas.microsoft.com/office/drawing/2014/main" id="{FC2720FB-FD38-DA5D-2FA7-9ECCF3F17F7D}"/>
              </a:ext>
            </a:extLst>
          </p:cNvPr>
          <p:cNvSpPr txBox="1"/>
          <p:nvPr/>
        </p:nvSpPr>
        <p:spPr>
          <a:xfrm>
            <a:off x="2547227" y="5011722"/>
            <a:ext cx="64214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Audit Logs:</a:t>
            </a:r>
            <a:r>
              <a:rPr lang="en-US" sz="20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 Every access is tracked and monitored.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1871330"/>
            <a:ext cx="5031858" cy="361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71331"/>
            <a:ext cx="5031859" cy="360078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972658" y="3447470"/>
            <a:ext cx="319212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Small-Cell Suppression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940760" y="3837287"/>
            <a:ext cx="4505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Never publish counts fewer than &lt;5-10 cases (follow state laws and policy).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Combine or suppress cells to prevent re-identification in small populations</a:t>
            </a:r>
            <a:endParaRPr sz="1600" dirty="0">
              <a:latin typeface="+mn-lt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6724651" y="3447469"/>
            <a:ext cx="245124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Aggregation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6724651" y="3837287"/>
            <a:ext cx="450532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Report data by larger geographic areas (e.g., region vs. zip code)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rgbClr val="374151"/>
                </a:solidFill>
                <a:latin typeface="+mn-lt"/>
                <a:ea typeface="DM Sans"/>
                <a:cs typeface="DM Sans"/>
                <a:sym typeface="DM Sans"/>
              </a:rPr>
              <a:t>Use multi-year aggregates (e.g., 3-5-years) to ensure statistical stability and privacy.</a:t>
            </a:r>
            <a:endParaRPr sz="1600" dirty="0">
              <a:latin typeface="+mn-lt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571500" y="571500"/>
            <a:ext cx="503185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Reporting Safely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ABAEDB8E-D35B-484F-EBCF-59D42569E72F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86F6A-96FA-32D5-1651-55D19A9DD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3987" y="1914413"/>
            <a:ext cx="1384300" cy="1371600"/>
          </a:xfrm>
          <a:prstGeom prst="rect">
            <a:avLst/>
          </a:prstGeom>
        </p:spPr>
      </p:pic>
      <p:sp>
        <p:nvSpPr>
          <p:cNvPr id="5" name="Google Shape;359;p30">
            <a:extLst>
              <a:ext uri="{FF2B5EF4-FFF2-40B4-BE49-F238E27FC236}">
                <a16:creationId xmlns:a16="http://schemas.microsoft.com/office/drawing/2014/main" id="{9BB8D4EF-AA7A-C4A4-5830-FA061E3EB8BE}"/>
              </a:ext>
            </a:extLst>
          </p:cNvPr>
          <p:cNvSpPr txBox="1"/>
          <p:nvPr/>
        </p:nvSpPr>
        <p:spPr>
          <a:xfrm>
            <a:off x="2646137" y="1430840"/>
            <a:ext cx="66563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Balancing usefulness and privacy in Cancer </a:t>
            </a:r>
            <a:r>
              <a:rPr lang="en-US" sz="2100" b="1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d</a:t>
            </a:r>
            <a:r>
              <a:rPr lang="en-US" sz="21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ata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94048-7984-16D5-D5B6-8FFF55FA0836}"/>
              </a:ext>
            </a:extLst>
          </p:cNvPr>
          <p:cNvSpPr txBox="1"/>
          <p:nvPr/>
        </p:nvSpPr>
        <p:spPr>
          <a:xfrm>
            <a:off x="3773980" y="5883190"/>
            <a:ext cx="4352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effectLst/>
                <a:latin typeface="+mn-lt"/>
              </a:rPr>
              <a:t>Goal: useful data, low disclosure risk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56319A-5C7F-3FAF-AED9-BFE115525B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10" t="14363" r="17512" b="9808"/>
          <a:stretch>
            <a:fillRect/>
          </a:stretch>
        </p:blipFill>
        <p:spPr>
          <a:xfrm>
            <a:off x="7543850" y="5753247"/>
            <a:ext cx="500878" cy="598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4798F-88FB-AD64-30C1-CC4BC2503F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020" y="1982523"/>
            <a:ext cx="1401384" cy="11540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2125" y="1990796"/>
            <a:ext cx="4025110" cy="403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4841" y="2086490"/>
            <a:ext cx="4025111" cy="394217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1842125" y="3516928"/>
            <a:ext cx="23192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Skeleton Notes</a:t>
            </a:r>
            <a:endParaRPr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2137399" y="4033236"/>
            <a:ext cx="3487223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A fillable handout to help you follow along and capture key metrics during the session.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Check the chat for the download link.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6976557" y="3557462"/>
            <a:ext cx="24119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Case Study Guide</a:t>
            </a:r>
            <a:endParaRPr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7070652" y="4033236"/>
            <a:ext cx="3357696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A reference sheet for the "</a:t>
            </a: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Rural Spike</a:t>
            </a:r>
            <a:r>
              <a:rPr lang="en-US" sz="16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" breakout activity, including the rubric for your group's diagnosis.</a:t>
            </a:r>
            <a:endParaRPr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74" name="Google Shape;37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3496" y="2243913"/>
            <a:ext cx="1153167" cy="109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2266" y="2281364"/>
            <a:ext cx="1414944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Merriweather"/>
                <a:cs typeface="Merriweather"/>
                <a:sym typeface="Merriweather"/>
              </a:rPr>
              <a:t>Session Resources</a:t>
            </a:r>
            <a:endParaRPr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Google Shape;107;p14">
            <a:extLst>
              <a:ext uri="{FF2B5EF4-FFF2-40B4-BE49-F238E27FC236}">
                <a16:creationId xmlns:a16="http://schemas.microsoft.com/office/drawing/2014/main" id="{5DB27560-5C16-1DEB-CFC7-BC4ED01A4673}"/>
              </a:ext>
            </a:extLst>
          </p:cNvPr>
          <p:cNvSpPr/>
          <p:nvPr/>
        </p:nvSpPr>
        <p:spPr>
          <a:xfrm>
            <a:off x="571500" y="1238249"/>
            <a:ext cx="11049000" cy="9144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962733" y="1608718"/>
            <a:ext cx="4002671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tx1"/>
                </a:solidFill>
                <a:latin typeface="+mn-lt"/>
                <a:ea typeface="Merriweather"/>
                <a:cs typeface="Merriweather"/>
                <a:sym typeface="Merriweather"/>
              </a:rPr>
              <a:t>Questions?</a:t>
            </a:r>
            <a:endParaRPr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1896139" y="2441088"/>
            <a:ext cx="8066567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Thank you for your active participation.</a:t>
            </a:r>
            <a:endParaRPr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3172046" y="3519753"/>
            <a:ext cx="749240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Next Steps: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 Complete the post-session assessment.</a:t>
            </a:r>
            <a:endParaRPr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5124893" y="4401441"/>
            <a:ext cx="200955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Contact: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sng" strike="noStrike" cap="none" dirty="0" err="1">
                <a:solidFill>
                  <a:schemeClr val="tx1"/>
                </a:solidFill>
                <a:latin typeface="+mn-lt"/>
                <a:ea typeface="DM Sans"/>
                <a:cs typeface="DM Sans"/>
                <a:sym typeface="DM Sans"/>
              </a:rPr>
              <a:t>abrshah@unmc.edu</a:t>
            </a:r>
            <a:endParaRPr i="1" u="sng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775</Words>
  <Application>Microsoft Macintosh PowerPoint</Application>
  <PresentationFormat>Widescreen</PresentationFormat>
  <Paragraphs>111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DM Sans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Shah, Rauf</cp:lastModifiedBy>
  <cp:revision>12</cp:revision>
  <dcterms:modified xsi:type="dcterms:W3CDTF">2025-11-24T04:43:16Z</dcterms:modified>
</cp:coreProperties>
</file>